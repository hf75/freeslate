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8ED4A4-CCE0-16F0-307B-FBB92C6335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62C4F1F-12E4-5BC7-77EC-F2C04A87F3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5E3F89-F87F-61C3-F7FA-6BC7C928A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A8E8C0-7758-A697-4358-96C739661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F10029-E08A-3D34-38B3-C1339B3B6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7480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07511-BB8A-32FC-A73B-9989E640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B9A1C0-C60D-38EE-9401-BF00244FF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DA65AE-A94A-4C8D-7CEA-4602838FD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1A6275-4ACB-04C5-3A6F-86534CCE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C92E2B-FCF2-0772-6D22-BB3A80FC6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7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E36013-648B-52AB-A043-70C45BD8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47D90EC-1481-0974-D81E-BDFF4AE73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68FDC02-47D1-52D2-77FA-63C2E6514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D6DE54-2A09-8B85-8901-F864B523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6CB80A-00B4-1884-7F7B-74AC6655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9498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F10A79-2889-68F3-811A-07110D0C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1F3DFD-DE84-AD72-5C14-1BD74101AD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241ACD-A1B2-8058-989D-F82C71DD9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16478A-F333-732D-D6A5-85082EE2B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63315E-16C3-5D01-D80A-B9F44F8B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0CD9E9E-A5C5-15C3-18AA-B8DEBD798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66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2A56FA-80BB-2A86-D4DC-52589405B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CA5C180-A28B-E22A-1E25-B888C8848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C954C6-B026-172C-FECF-F9AFE7E5B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59E3DF0-DEFD-EF0E-3424-B3DC9D7FCE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0DCF7B-A4F5-A8A7-0BD1-5BA622F2B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3A3150A-AA62-9B9B-9FEA-16ADBB3DF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63A42E1-14BE-39DD-43FB-058D1FA83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3C0C82-7CEB-8C49-DEFF-2947A4B67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9543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E1088C-6B91-7D76-DFD7-82DF55DF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215289C-53B4-FE1F-37B8-A96D74936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3D2AEF-E825-77EA-404A-26B27CDEC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CE7912-F160-FB35-5D26-19EE4D96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191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4EFE7C6-8110-8110-67F8-9ABE35E11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ECB28DD-7F5B-69FD-5648-879BEECEB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9286970-E133-EA0B-303D-0ABD4E74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644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27E62B-99F3-A9A3-BBD9-41B6F2E5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5B94AF2-E7FC-424D-75F5-F0190B07A4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7DAD23-75EA-2DBE-08E3-48F2C9DB4E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576240E-97A7-182A-68F2-76DB3E7A3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CC43BA-6241-B05C-AA92-959997E9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F560D9-B761-E8A7-3DB7-895572FCD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4702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18FBE4-E01D-ED2A-E6EA-73DBFE363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97807FE-F30B-6F4D-719F-55F9B999E8A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C83F76C-BFE2-091C-44EF-9FA974F309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3EA470-8F48-D240-4F29-E09C66ED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5933E8-2F77-3406-0BEF-6245A6504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DD1CABE-FEBC-FFDF-AA75-6BAC8C0E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6929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0206C-B806-F36C-F660-7957C098C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34527CE-64D0-E6D4-CCF5-33AECC2FD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7675D8-9102-CC22-215A-E41E3F8A5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3C343B-ACED-B8F6-974D-3B86C0834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A40722B-653E-185E-B843-16801D1C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7537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24A0AD9-05B3-F7B8-4D9C-0ADB6E6216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DF4D6E-B168-7FEA-EC0F-4FE50D484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4F6183-71C3-C5E3-A6BF-39B244DE0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CB5FB2F-1898-04EB-91E2-A0406DCA0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E89E55-6A0F-BC1E-FB89-EF4827593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50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7F6C219-74FA-71D5-B502-4A3FF3A6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C09D3D-4E4D-12D0-F701-F9169ED7A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8A49588-AAC6-0994-3EBD-301B3E89F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69883-823D-4E5E-806F-B13F62A6E081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F85693-132C-0175-2EEF-7D001D1398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3AD5A7-A564-4E7A-6058-201DA38B4F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3B2D0B-CF8D-4B7F-BA45-59DE35A835A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3381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66AE68BA-73D2-806A-49C6-6F6B3BCE63E1}"/>
                  </a:ext>
                </a:extLst>
              </p:cNvPr>
              <p:cNvSpPr txBox="1"/>
              <p:nvPr/>
            </p:nvSpPr>
            <p:spPr>
              <a:xfrm>
                <a:off x="508000" y="508000"/>
                <a:ext cx="5461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/>
                        </a:rPr>
                        <m:t>𝑥</m:t>
                      </m:r>
                      <m:r>
                        <a:rPr lang="en-US" sz="2000" i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  <m:r>
                            <a:rPr lang="en-US" sz="2000" i="0">
                              <a:latin typeface="Cambria Math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𝑏</m:t>
                                  </m:r>
                                </m:e>
                                <m:sup>
                                  <m:r>
                                    <a:rPr lang="en-US" sz="2000" i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i="0">
                                  <a:latin typeface="Cambria Math"/>
                                </a:rPr>
                                <m:t>−4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𝑎𝑐</m:t>
                              </m:r>
                            </m:e>
                          </m:rad>
                        </m:num>
                        <m:den>
                          <m:r>
                            <a:rPr lang="en-US" sz="2000" i="0">
                              <a:latin typeface="Cambria Math"/>
                            </a:rPr>
                            <m:t>2</m:t>
                          </m:r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66AE68BA-73D2-806A-49C6-6F6B3BCE6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508000"/>
                <a:ext cx="5461000" cy="369332"/>
              </a:xfrm>
              <a:prstGeom prst="rect">
                <a:avLst/>
              </a:prstGeom>
              <a:blipFill>
                <a:blip r:embed="rId2"/>
                <a:stretch>
                  <a:fillRect b="-901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C45E4660-DFC4-BD60-0A6D-E27E7FBA16F3}"/>
                  </a:ext>
                </a:extLst>
              </p:cNvPr>
              <p:cNvSpPr txBox="1"/>
              <p:nvPr/>
            </p:nvSpPr>
            <p:spPr>
              <a:xfrm>
                <a:off x="6223000" y="508000"/>
                <a:ext cx="5461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𝑖</m:t>
                          </m:r>
                        </m:e>
                      </m:nary>
                      <m:r>
                        <a:rPr lang="en-US" sz="2000" i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0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n-US" sz="2000" i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C45E4660-DFC4-BD60-0A6D-E27E7FBA16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508000"/>
                <a:ext cx="5461000" cy="369332"/>
              </a:xfrm>
              <a:prstGeom prst="rect">
                <a:avLst/>
              </a:prstGeom>
              <a:blipFill>
                <a:blip r:embed="rId3"/>
                <a:stretch>
                  <a:fillRect b="-13606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161575A-71E7-5630-AD43-81473134690C}"/>
                  </a:ext>
                </a:extLst>
              </p:cNvPr>
              <p:cNvSpPr txBox="1"/>
              <p:nvPr/>
            </p:nvSpPr>
            <p:spPr>
              <a:xfrm>
                <a:off x="508000" y="2159000"/>
                <a:ext cx="5461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ctrlPr>
                            <a:rPr lang="en-US" sz="2000" i="0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0">
                                      <a:latin typeface="Cambria Math"/>
                                    </a:rPr>
                                    <m:t>2</m:t>
                                  </m:r>
                                </m:sup>
                              </m:sSup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d</m:t>
                          </m:r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nary>
                      <m:r>
                        <a:rPr lang="en-US" sz="2000" i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𝜋</m:t>
                              </m:r>
                            </m:e>
                          </m:rad>
                        </m:num>
                        <m:den>
                          <m:r>
                            <a:rPr lang="en-US" sz="2000" i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E161575A-71E7-5630-AD43-814731346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2159000"/>
                <a:ext cx="5461000" cy="369332"/>
              </a:xfrm>
              <a:prstGeom prst="rect">
                <a:avLst/>
              </a:prstGeom>
              <a:blipFill>
                <a:blip r:embed="rId4"/>
                <a:stretch>
                  <a:fillRect b="-967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D8CB8B0-BC66-C039-5507-791BF93CBCAB}"/>
                  </a:ext>
                </a:extLst>
              </p:cNvPr>
              <p:cNvSpPr txBox="1"/>
              <p:nvPr/>
            </p:nvSpPr>
            <p:spPr>
              <a:xfrm>
                <a:off x="6223000" y="2159000"/>
                <a:ext cx="5461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/>
                        </a:rPr>
                        <m:t>𝐴</m:t>
                      </m:r>
                      <m:r>
                        <a:rPr lang="en-US" sz="2000" i="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𝑎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𝑐</m:t>
                                </m:r>
                              </m:e>
                              <m:e>
                                <m:r>
                                  <a:rPr lang="en-US" sz="2000" i="1">
                                    <a:latin typeface="Cambria Math"/>
                                  </a:rPr>
                                  <m:t>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D8CB8B0-BC66-C039-5507-791BF93CB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2159000"/>
                <a:ext cx="5461000" cy="369332"/>
              </a:xfrm>
              <a:prstGeom prst="rect">
                <a:avLst/>
              </a:prstGeom>
              <a:blipFill>
                <a:blip r:embed="rId5"/>
                <a:stretch>
                  <a:fillRect b="-524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7B1921B-F6B5-39B3-BE1E-52BF2C693486}"/>
                  </a:ext>
                </a:extLst>
              </p:cNvPr>
              <p:cNvSpPr txBox="1"/>
              <p:nvPr/>
            </p:nvSpPr>
            <p:spPr>
              <a:xfrm>
                <a:off x="508000" y="3810000"/>
                <a:ext cx="5461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func>
                                <m:funcPr>
                                  <m:ctrlPr>
                                    <a:rPr lang="en-US" sz="2000" i="0">
                                      <a:latin typeface="Cambria Math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i="0">
                                      <a:latin typeface="Cambria Math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  <m:r>
                        <a:rPr lang="en-US" sz="2000" i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7B1921B-F6B5-39B3-BE1E-52BF2C693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000" y="3810000"/>
                <a:ext cx="5461000" cy="369332"/>
              </a:xfrm>
              <a:prstGeom prst="rect">
                <a:avLst/>
              </a:prstGeom>
              <a:blipFill>
                <a:blip r:embed="rId6"/>
                <a:stretch>
                  <a:fillRect b="-6557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A92C525-14DE-8F24-A336-183146240E3C}"/>
                  </a:ext>
                </a:extLst>
              </p:cNvPr>
              <p:cNvSpPr txBox="1"/>
              <p:nvPr/>
            </p:nvSpPr>
            <p:spPr>
              <a:xfrm>
                <a:off x="6223000" y="3810000"/>
                <a:ext cx="5461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ar>
                        <m:barPr>
                          <m:pos m:val="top"/>
                          <m:ctrlPr>
                            <a:rPr lang="en-US" sz="2000" i="1">
                              <a:latin typeface="Cambria Math"/>
                            </a:rPr>
                          </m:ctrlPr>
                        </m:bar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bar>
                      <m:r>
                        <a:rPr lang="en-US" sz="2000" i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000" i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𝑘</m:t>
                              </m:r>
                              <m:r>
                                <a:rPr lang="en-US" sz="2000" i="0">
                                  <a:latin typeface="Cambria Math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sz="2000" i="0">
                          <a:latin typeface="Cambria Math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𝑣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  <m:r>
                                <a:rPr lang="en-US" sz="2000" i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A92C525-14DE-8F24-A336-183146240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3810000"/>
                <a:ext cx="5461000" cy="369332"/>
              </a:xfrm>
              <a:prstGeom prst="rect">
                <a:avLst/>
              </a:prstGeom>
              <a:blipFill>
                <a:blip r:embed="rId7"/>
                <a:stretch>
                  <a:fillRect b="-1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3652B67-73B8-71D6-BCC8-55EB5290D6C8}"/>
                  </a:ext>
                </a:extLst>
              </p:cNvPr>
              <p:cNvSpPr txBox="1"/>
              <p:nvPr/>
            </p:nvSpPr>
            <p:spPr>
              <a:xfrm>
                <a:off x="254000" y="5969000"/>
                <a:ext cx="11430000" cy="461665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r>
                  <a:rPr lang="en-US" sz="2400"/>
                  <a:t>Energy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𝐸</m:t>
                    </m:r>
                    <m:r>
                      <a:rPr lang="en-US" sz="2000" i="0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𝑚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𝑐</m:t>
                        </m:r>
                      </m:e>
                      <m:sup>
                        <m:r>
                          <a:rPr lang="en-US" sz="2000" i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/>
                  <a:t> is mass times the speed of light squared.</a:t>
                </a:r>
                <a:endParaRPr lang="de-DE" sz="2400"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3652B67-73B8-71D6-BCC8-55EB5290D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5969000"/>
                <a:ext cx="11430000" cy="461665"/>
              </a:xfrm>
              <a:prstGeom prst="rect">
                <a:avLst/>
              </a:prstGeom>
              <a:blipFill>
                <a:blip r:embed="rId8"/>
                <a:stretch>
                  <a:fillRect l="-853" t="-10526" b="-28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743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A5E5DABA-920F-7534-99DD-053EA33FF0A5}"/>
                  </a:ext>
                </a:extLst>
              </p:cNvPr>
              <p:cNvSpPr txBox="1"/>
              <p:nvPr/>
            </p:nvSpPr>
            <p:spPr>
              <a:xfrm>
                <a:off x="254000" y="254000"/>
                <a:ext cx="5715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0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i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den>
                          </m:f>
                        </m:den>
                      </m:f>
                      <m:r>
                        <a:rPr lang="en-US" sz="2000" i="0">
                          <a:latin typeface="Cambria Math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den>
                      </m:f>
                      <m:r>
                        <a:rPr lang="en-US" sz="2000" i="0">
                          <a:latin typeface="Cambria Math"/>
                        </a:rPr>
                        <m:t>+</m:t>
                      </m:r>
                      <m:f>
                        <m:fPr>
                          <m:type m:val="skw"/>
                          <m:ctrlPr>
                            <a:rPr lang="en-US" sz="2000" i="1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A5E5DABA-920F-7534-99DD-053EA33FF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254000"/>
                <a:ext cx="5715000" cy="369332"/>
              </a:xfrm>
              <a:prstGeom prst="rect">
                <a:avLst/>
              </a:prstGeom>
              <a:blipFill>
                <a:blip r:embed="rId2"/>
                <a:stretch>
                  <a:fillRect b="-13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3DF0E560-B127-7B83-DEBF-5C9BAECE8293}"/>
                  </a:ext>
                </a:extLst>
              </p:cNvPr>
              <p:cNvSpPr txBox="1"/>
              <p:nvPr/>
            </p:nvSpPr>
            <p:spPr>
              <a:xfrm>
                <a:off x="6223000" y="254000"/>
                <a:ext cx="5715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ad>
                        <m:radPr>
                          <m:ctrlPr>
                            <a:rPr lang="en-US" sz="2000" i="0">
                              <a:latin typeface="Cambria Math"/>
                            </a:rPr>
                          </m:ctrlPr>
                        </m:radPr>
                        <m:deg>
                          <m:r>
                            <a:rPr lang="en-US" sz="2000" i="0"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  <m:r>
                            <a:rPr lang="en-US" sz="2000" i="0">
                              <a:latin typeface="Cambria Math"/>
                            </a:rPr>
                            <m:t>+1</m:t>
                          </m:r>
                        </m:e>
                      </m:rad>
                      <m:r>
                        <a:rPr lang="en-US" sz="2000" i="0">
                          <a:latin typeface="Cambria Math"/>
                        </a:rPr>
                        <m:t>+</m:t>
                      </m:r>
                      <m:sSubSup>
                        <m:sSub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𝑖</m:t>
                          </m:r>
                        </m:sub>
                        <m:sup>
                          <m:r>
                            <a:rPr lang="en-US" sz="2000" i="0">
                              <a:latin typeface="Cambria Math"/>
                            </a:rPr>
                            <m:t>2</m:t>
                          </m:r>
                        </m:sup>
                      </m:sSubSup>
                      <m:r>
                        <a:rPr lang="en-US" sz="2000" i="0">
                          <a:latin typeface="Cambria Math"/>
                        </a:rPr>
                        <m:t>−</m:t>
                      </m:r>
                      <m:sPre>
                        <m:sPrePr>
                          <m:ctrlPr>
                            <a:rPr lang="en-US" sz="2000" i="1">
                              <a:latin typeface="Cambria Math"/>
                            </a:rPr>
                          </m:ctrlPr>
                        </m:sPrePr>
                        <m:sub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e>
                      </m:sPre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3DF0E560-B127-7B83-DEBF-5C9BAECE8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254000"/>
                <a:ext cx="5715000" cy="369332"/>
              </a:xfrm>
              <a:prstGeom prst="rect">
                <a:avLst/>
              </a:prstGeom>
              <a:blipFill>
                <a:blip r:embed="rId3"/>
                <a:stretch>
                  <a:fillRect b="-2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321E0C3-1AEB-9A26-513B-E581FA18251A}"/>
                  </a:ext>
                </a:extLst>
              </p:cNvPr>
              <p:cNvSpPr txBox="1"/>
              <p:nvPr/>
            </p:nvSpPr>
            <p:spPr>
              <a:xfrm>
                <a:off x="254000" y="1524000"/>
                <a:ext cx="5715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∏"/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0">
                          <a:latin typeface="Cambria Math"/>
                        </a:rPr>
                        <m:t>=</m:t>
                      </m:r>
                      <m:nary>
                        <m:naryPr>
                          <m:chr m:val="∮"/>
                          <m:limLoc m:val="subSup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sz="2000" i="1">
                              <a:latin typeface="Cambria Math"/>
                            </a:rPr>
                            <m:t>𝑓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d</m:t>
                          </m:r>
                          <m:r>
                            <a:rPr lang="en-US" sz="2000" i="1">
                              <a:latin typeface="Cambria Math"/>
                            </a:rPr>
                            <m:t>𝑧</m:t>
                          </m:r>
                        </m:e>
                      </m:nary>
                      <m:r>
                        <a:rPr lang="en-US" sz="2000" i="0">
                          <a:latin typeface="Cambria Math"/>
                        </a:rPr>
                        <m:t>+</m:t>
                      </m:r>
                      <m:nary>
                        <m:naryPr>
                          <m:chr m:val="∬"/>
                          <m:limLoc m:val="subSup"/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/>
                            </a:rPr>
                            <m:t>𝑔</m:t>
                          </m:r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d</m:t>
                          </m:r>
                          <m:r>
                            <a:rPr lang="en-US" sz="2000" i="1">
                              <a:latin typeface="Cambria Math"/>
                            </a:rPr>
                            <m:t>𝐴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321E0C3-1AEB-9A26-513B-E581FA182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1524000"/>
                <a:ext cx="5715000" cy="369332"/>
              </a:xfrm>
              <a:prstGeom prst="rect">
                <a:avLst/>
              </a:prstGeom>
              <a:blipFill>
                <a:blip r:embed="rId4"/>
                <a:stretch>
                  <a:fillRect b="-1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D1949A2-AEDD-7D3C-FBEC-6F61E95708DB}"/>
                  </a:ext>
                </a:extLst>
              </p:cNvPr>
              <p:cNvSpPr txBox="1"/>
              <p:nvPr/>
            </p:nvSpPr>
            <p:spPr>
              <a:xfrm>
                <a:off x="6223000" y="1524000"/>
                <a:ext cx="5715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</m:d>
                      <m:r>
                        <a:rPr lang="en-US" sz="2000" i="0">
                          <a:latin typeface="Cambria Math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0">
                          <a:latin typeface="Cambria Math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𝜓</m:t>
                          </m:r>
                        </m:e>
                      </m:d>
                      <m:r>
                        <a:rPr lang="en-US" sz="2000" i="0">
                          <a:latin typeface="Cambria Math"/>
                        </a:rPr>
                        <m:t>+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2000" i="0">
                          <a:latin typeface="Cambria Math"/>
                        </a:rPr>
                        <m:t>+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5D1949A2-AEDD-7D3C-FBEC-6F61E9570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1524000"/>
                <a:ext cx="5715000" cy="369332"/>
              </a:xfrm>
              <a:prstGeom prst="rect">
                <a:avLst/>
              </a:prstGeom>
              <a:blipFill>
                <a:blip r:embed="rId5"/>
                <a:stretch>
                  <a:fillRect b="-229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DA690C0-625E-1381-8201-D616288A362B}"/>
                  </a:ext>
                </a:extLst>
              </p:cNvPr>
              <p:cNvSpPr txBox="1"/>
              <p:nvPr/>
            </p:nvSpPr>
            <p:spPr>
              <a:xfrm>
                <a:off x="254000" y="2921000"/>
                <a:ext cx="5715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>
                          <a:latin typeface="Cambria Math"/>
                        </a:rPr>
                        <m:t>𝑀</m:t>
                      </m:r>
                      <m:r>
                        <a:rPr lang="en-US" sz="2000" i="0">
                          <a:latin typeface="Cambria Math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2000" i="0">
                                    <a:latin typeface="Cambria Math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4DA690C0-625E-1381-8201-D616288A36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2921000"/>
                <a:ext cx="5715000" cy="369332"/>
              </a:xfrm>
              <a:prstGeom prst="rect">
                <a:avLst/>
              </a:prstGeom>
              <a:blipFill>
                <a:blip r:embed="rId6"/>
                <a:stretch>
                  <a:fillRect b="-12950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5593313-CD1E-E618-9DEA-C9EA137A14AF}"/>
                  </a:ext>
                </a:extLst>
              </p:cNvPr>
              <p:cNvSpPr txBox="1"/>
              <p:nvPr/>
            </p:nvSpPr>
            <p:spPr>
              <a:xfrm>
                <a:off x="6223000" y="2921000"/>
                <a:ext cx="5715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  <m:r>
                            <a:rPr lang="en-US" sz="2000" i="0">
                              <a:latin typeface="Cambria Math"/>
                            </a:rPr>
                            <m:t>+</m:t>
                          </m:r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  <m:r>
                            <a:rPr lang="en-US" sz="2000" i="0">
                              <a:latin typeface="Cambria Math"/>
                            </a:rPr>
                            <m:t>=2</m:t>
                          </m:r>
                        </m:e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  <m:r>
                            <a:rPr lang="en-US" sz="2000" i="0">
                              <a:latin typeface="Cambria Math"/>
                            </a:rPr>
                            <m:t>−</m:t>
                          </m:r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  <m:r>
                            <a:rPr lang="en-US" sz="2000" i="0">
                              <a:latin typeface="Cambria Math"/>
                            </a:rPr>
                            <m:t>=0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F5593313-CD1E-E618-9DEA-C9EA137A1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2921000"/>
                <a:ext cx="5715000" cy="369332"/>
              </a:xfrm>
              <a:prstGeom prst="rect">
                <a:avLst/>
              </a:prstGeom>
              <a:blipFill>
                <a:blip r:embed="rId7"/>
                <a:stretch>
                  <a:fillRect b="-6721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9ACE23A6-6D96-8DB3-BC0D-F84D26BFAA47}"/>
                  </a:ext>
                </a:extLst>
              </p:cNvPr>
              <p:cNvSpPr txBox="1"/>
              <p:nvPr/>
            </p:nvSpPr>
            <p:spPr>
              <a:xfrm>
                <a:off x="254000" y="4445000"/>
                <a:ext cx="5715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acc>
                        <m:accPr>
                          <m:chr m:val="̇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acc>
                        <m:accPr>
                          <m:chr m:val="⃗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𝐴𝐵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limLow>
                        <m:limLow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pos m:val="bot"/>
                              <m:vertJc m:val="top"/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groupChr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sz="2000" i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𝑦</m:t>
                              </m:r>
                              <m:r>
                                <a:rPr lang="en-US" sz="2000" i="0">
                                  <a:latin typeface="Cambria Math"/>
                                </a:rPr>
                                <m:t>+</m:t>
                              </m:r>
                              <m:r>
                                <a:rPr lang="en-US" sz="2000" i="1">
                                  <a:latin typeface="Cambria Math"/>
                                </a:rPr>
                                <m:t>𝑧</m:t>
                              </m:r>
                            </m:e>
                          </m:groupChr>
                        </m:e>
                        <m:lim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lim>
                      </m:limLow>
                      <m:r>
                        <a:rPr lang="en-US" sz="2000" i="0">
                          <a:latin typeface="Cambria Math"/>
                        </a:rPr>
                        <m:t>+</m:t>
                      </m:r>
                      <m:bar>
                        <m:barPr>
                          <m:pos m:val="bot"/>
                          <m:ctrlPr>
                            <a:rPr lang="en-US" sz="2000" i="1">
                              <a:latin typeface="Cambria Math"/>
                            </a:rPr>
                          </m:ctrlPr>
                        </m:barPr>
                        <m:e>
                          <m:r>
                            <a:rPr lang="en-US" sz="2000" i="1">
                              <a:latin typeface="Cambria Math"/>
                            </a:rPr>
                            <m:t>𝑤</m:t>
                          </m:r>
                        </m:e>
                      </m:ba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9ACE23A6-6D96-8DB3-BC0D-F84D26BFA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4445000"/>
                <a:ext cx="5715000" cy="369332"/>
              </a:xfrm>
              <a:prstGeom prst="rect">
                <a:avLst/>
              </a:prstGeom>
              <a:blipFill>
                <a:blip r:embed="rId8"/>
                <a:stretch>
                  <a:fillRect b="-8524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DF14069-D498-4717-55D1-F73F29DCD0DF}"/>
                  </a:ext>
                </a:extLst>
              </p:cNvPr>
              <p:cNvSpPr txBox="1"/>
              <p:nvPr/>
            </p:nvSpPr>
            <p:spPr>
              <a:xfrm>
                <a:off x="6223000" y="4445000"/>
                <a:ext cx="5715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limUpp>
                        <m:limUppPr>
                          <m:ctrlPr>
                            <a:rPr lang="en-US" sz="2000" i="0">
                              <a:latin typeface="Cambria Math"/>
                            </a:rPr>
                          </m:ctrlPr>
                        </m:limUpp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max</m:t>
                          </m:r>
                        </m:e>
                        <m:lim>
                          <m:r>
                            <a:rPr lang="en-US" sz="2000" i="1">
                              <a:latin typeface="Cambria Math"/>
                            </a:rPr>
                            <m:t>𝑡</m:t>
                          </m:r>
                        </m:lim>
                      </m:limUpp>
                      <m:func>
                        <m:funcPr>
                          <m:ctrlPr>
                            <a:rPr lang="en-US" sz="20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cos</m:t>
                          </m:r>
                        </m:fName>
                        <m:e>
                          <m:r>
                            <a:rPr lang="en-US" sz="2000" i="1">
                              <a:latin typeface="Cambria Math"/>
                            </a:rPr>
                            <m:t>𝜃</m:t>
                          </m:r>
                        </m:e>
                      </m:func>
                      <m:r>
                        <a:rPr lang="en-US" sz="2000" i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sz="20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log</m:t>
                          </m:r>
                        </m:fName>
                        <m:e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e>
                      </m:func>
                      <m:r>
                        <a:rPr lang="en-US" sz="2000" i="0">
                          <a:latin typeface="Cambria Math"/>
                        </a:rPr>
                        <m:t>=</m:t>
                      </m:r>
                      <m:borderBox>
                        <m:borderBoxPr>
                          <m:ctrlPr>
                            <a:rPr lang="en-US" sz="2000" i="1">
                              <a:latin typeface="Cambria Math"/>
                            </a:rPr>
                          </m:ctrlPr>
                        </m:borderBoxPr>
                        <m:e>
                          <m:r>
                            <a:rPr lang="en-US" sz="2000" i="1">
                              <a:latin typeface="Cambria Math"/>
                            </a:rPr>
                            <m:t>𝐸</m:t>
                          </m:r>
                          <m:r>
                            <a:rPr lang="en-US" sz="2000" i="0">
                              <a:latin typeface="Cambria Math"/>
                            </a:rPr>
                            <m:t>=</m:t>
                          </m:r>
                          <m:r>
                            <a:rPr lang="en-US" sz="2000" i="1">
                              <a:latin typeface="Cambria Math"/>
                            </a:rPr>
                            <m:t>𝑚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borderBox>
                      <m:r>
                        <a:rPr lang="en-US" sz="2000" i="0">
                          <a:latin typeface="Cambria Math"/>
                        </a:rPr>
                        <m:t>+</m:t>
                      </m:r>
                      <m:box>
                        <m:boxPr>
                          <m:ctrlPr>
                            <a:rPr lang="en-US" sz="2000" i="1">
                              <a:latin typeface="Cambria Math"/>
                            </a:rPr>
                          </m:ctrlPr>
                        </m:boxPr>
                        <m:e>
                          <m:r>
                            <a:rPr lang="en-US" sz="2000" i="1">
                              <a:latin typeface="Cambria Math"/>
                            </a:rPr>
                            <m:t>𝑘</m:t>
                          </m:r>
                        </m:e>
                      </m:box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CDF14069-D498-4717-55D1-F73F29DCD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3000" y="4445000"/>
                <a:ext cx="5715000" cy="369332"/>
              </a:xfrm>
              <a:prstGeom prst="rect">
                <a:avLst/>
              </a:prstGeom>
              <a:blipFill>
                <a:blip r:embed="rId9"/>
                <a:stretch>
                  <a:fillRect b="-1967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6A5321C-F097-778F-CD02-BB2FDD5A6B6C}"/>
                  </a:ext>
                </a:extLst>
              </p:cNvPr>
              <p:cNvSpPr txBox="1"/>
              <p:nvPr/>
            </p:nvSpPr>
            <p:spPr>
              <a:xfrm>
                <a:off x="254000" y="5969000"/>
                <a:ext cx="11430000" cy="461665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r>
                  <a:rPr lang="de-DE" sz="2400"/>
                  <a:t>Inline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𝑏</m:t>
                        </m:r>
                      </m:den>
                    </m:f>
                    <m:r>
                      <a:rPr lang="en-US" sz="2000" i="0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  <m:r>
                          <a:rPr lang="en-US" sz="2000" i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sz="2000" i="1">
                            <a:latin typeface="Cambria Math"/>
                          </a:rPr>
                          <m:t>𝑖</m:t>
                        </m:r>
                      </m:e>
                    </m:nary>
                    <m:r>
                      <a:rPr lang="en-US" sz="2000" i="0"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rad>
                  </m:oMath>
                </a14:m>
                <a:r>
                  <a:rPr lang="de-DE" sz="2400"/>
                  <a:t> in a sentence.</a:t>
                </a:r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56A5321C-F097-778F-CD02-BB2FDD5A6B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5969000"/>
                <a:ext cx="11430000" cy="461665"/>
              </a:xfrm>
              <a:prstGeom prst="rect">
                <a:avLst/>
              </a:prstGeom>
              <a:blipFill>
                <a:blip r:embed="rId10"/>
                <a:stretch>
                  <a:fillRect l="-853" t="-97368" b="-15394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734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088973C8-0B0B-D326-85E9-AE4816D47E1E}"/>
                  </a:ext>
                </a:extLst>
              </p:cNvPr>
              <p:cNvSpPr txBox="1"/>
              <p:nvPr/>
            </p:nvSpPr>
            <p:spPr>
              <a:xfrm>
                <a:off x="190500" y="12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type m:val="skw"/>
                          <m:ctrlPr>
                            <a:rPr lang="en-US" sz="2000" i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US" sz="2000" i="0">
                          <a:latin typeface="Cambria Math"/>
                        </a:rPr>
                        <m:t>+</m:t>
                      </m:r>
                      <m:f>
                        <m:fPr>
                          <m:type m:val="skw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i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den>
                      </m:f>
                      <m:r>
                        <a:rPr lang="en-US" sz="2000" i="0">
                          <a:latin typeface="Cambria Math"/>
                        </a:rPr>
                        <m:t>+</m:t>
                      </m:r>
                      <m:f>
                        <m:fPr>
                          <m:type m:val="skw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𝑏</m:t>
                              </m:r>
                            </m:den>
                          </m:f>
                        </m:num>
                        <m:den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088973C8-0B0B-D326-85E9-AE4816D47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27000"/>
                <a:ext cx="3810000" cy="369332"/>
              </a:xfrm>
              <a:prstGeom prst="rect">
                <a:avLst/>
              </a:prstGeom>
              <a:blipFill>
                <a:blip r:embed="rId2"/>
                <a:stretch>
                  <a:fillRect b="-8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30CAB47-3125-4116-74C8-5006840EC523}"/>
                  </a:ext>
                </a:extLst>
              </p:cNvPr>
              <p:cNvSpPr txBox="1"/>
              <p:nvPr/>
            </p:nvSpPr>
            <p:spPr>
              <a:xfrm>
                <a:off x="4191000" y="12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nary>
                      <m:r>
                        <a:rPr lang="en-US" sz="2000" i="0">
                          <a:latin typeface="Cambria Math"/>
                        </a:rPr>
                        <m:t>+</m:t>
                      </m:r>
                      <m:nary>
                        <m:naryPr>
                          <m:limLoc m:val="subSup"/>
                          <m:ctrlPr>
                            <a:rPr lang="en-US" sz="2000" i="0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2000" i="0">
                              <a:latin typeface="Cambria Math"/>
                            </a:rPr>
                            <m:t>1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30CAB47-3125-4116-74C8-5006840EC5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127000"/>
                <a:ext cx="3810000" cy="369332"/>
              </a:xfrm>
              <a:prstGeom prst="rect">
                <a:avLst/>
              </a:prstGeom>
              <a:blipFill>
                <a:blip r:embed="rId3"/>
                <a:stretch>
                  <a:fillRect b="-10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80DB925-36A6-0DF1-D026-6C8A36F3ADCA}"/>
                  </a:ext>
                </a:extLst>
              </p:cNvPr>
              <p:cNvSpPr txBox="1"/>
              <p:nvPr/>
            </p:nvSpPr>
            <p:spPr>
              <a:xfrm>
                <a:off x="8191500" y="12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/>
                            </a:rPr>
                            <m:t>𝑖</m:t>
                          </m:r>
                          <m:r>
                            <a:rPr lang="en-US" sz="2000" i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nary>
                      <m:r>
                        <a:rPr lang="en-US" sz="2000" i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80DB925-36A6-0DF1-D026-6C8A36F3A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0" y="127000"/>
                <a:ext cx="3810000" cy="369332"/>
              </a:xfrm>
              <a:prstGeom prst="rect">
                <a:avLst/>
              </a:prstGeom>
              <a:blipFill>
                <a:blip r:embed="rId4"/>
                <a:stretch>
                  <a:fillRect b="-13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E20AD02-207B-32F7-CC0E-48E679A2DB76}"/>
                  </a:ext>
                </a:extLst>
              </p:cNvPr>
              <p:cNvSpPr txBox="1"/>
              <p:nvPr/>
            </p:nvSpPr>
            <p:spPr>
              <a:xfrm>
                <a:off x="190500" y="139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ctrlPr>
                            <a:rPr lang="en-US" sz="2000" i="0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2000" i="0">
                              <a:latin typeface="Cambria Math"/>
                            </a:rPr>
                            <m:t>0</m:t>
                          </m:r>
                        </m:sub>
                        <m:sup/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nary>
                      <m:r>
                        <a:rPr lang="en-US" sz="2000" i="0">
                          <a:latin typeface="Cambria Math"/>
                        </a:rPr>
                        <m:t>+</m:t>
                      </m:r>
                      <m:r>
                        <a:rPr lang="en-US" sz="2000" i="1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E20AD02-207B-32F7-CC0E-48E679A2D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1397000"/>
                <a:ext cx="3810000" cy="369332"/>
              </a:xfrm>
              <a:prstGeom prst="rect">
                <a:avLst/>
              </a:prstGeom>
              <a:blipFill>
                <a:blip r:embed="rId5"/>
                <a:stretch>
                  <a:fillRect b="-10327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CAC5EB4-79B1-FFE9-FA85-F23B56067611}"/>
                  </a:ext>
                </a:extLst>
              </p:cNvPr>
              <p:cNvSpPr txBox="1"/>
              <p:nvPr/>
            </p:nvSpPr>
            <p:spPr>
              <a:xfrm>
                <a:off x="4191000" y="139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acc>
                        <m:accPr>
                          <m:chr m:val="̃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acc>
                        <m:accPr>
                          <m:chr m:val="̌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5CAC5EB4-79B1-FFE9-FA85-F23B56067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1397000"/>
                <a:ext cx="3810000" cy="369332"/>
              </a:xfrm>
              <a:prstGeom prst="rect">
                <a:avLst/>
              </a:prstGeom>
              <a:blipFill>
                <a:blip r:embed="rId6"/>
                <a:stretch>
                  <a:fillRect t="-6557" b="-1639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74FA45A-50C3-72A2-94BD-0FE540205375}"/>
                  </a:ext>
                </a:extLst>
              </p:cNvPr>
              <p:cNvSpPr txBox="1"/>
              <p:nvPr/>
            </p:nvSpPr>
            <p:spPr>
              <a:xfrm>
                <a:off x="8191500" y="139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acc>
                        <m:accPr>
                          <m:chr m:val="̆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acc>
                        <m:accPr>
                          <m:chr m:val="̈"/>
                          <m:ctrlPr>
                            <a:rPr lang="en-US" sz="2000" i="1">
                              <a:latin typeface="Cambria Math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</m:acc>
                      <m:r>
                        <a:rPr lang="en-US" sz="2000" i="0">
                          <a:latin typeface="Cambria Math"/>
                        </a:rPr>
                        <m:t>+</m:t>
                      </m:r>
                      <m:bar>
                        <m:barPr>
                          <m:pos m:val="top"/>
                          <m:ctrlPr>
                            <a:rPr lang="en-US" sz="2000" i="1">
                              <a:latin typeface="Cambria Math"/>
                            </a:rPr>
                          </m:ctrlPr>
                        </m:barPr>
                        <m:e>
                          <m:r>
                            <a:rPr lang="en-US" sz="2000" i="1">
                              <a:latin typeface="Cambria Math"/>
                            </a:rPr>
                            <m:t>𝑎𝑏</m:t>
                          </m:r>
                        </m:e>
                      </m:ba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074FA45A-50C3-72A2-94BD-0FE5402053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0" y="1397000"/>
                <a:ext cx="3810000" cy="369332"/>
              </a:xfrm>
              <a:prstGeom prst="rect">
                <a:avLst/>
              </a:prstGeom>
              <a:blipFill>
                <a:blip r:embed="rId7"/>
                <a:stretch>
                  <a:fillRect t="-8197" b="-2786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26D9241-888F-B605-9C24-3400F5C12FA8}"/>
                  </a:ext>
                </a:extLst>
              </p:cNvPr>
              <p:cNvSpPr txBox="1"/>
              <p:nvPr/>
            </p:nvSpPr>
            <p:spPr>
              <a:xfrm>
                <a:off x="190500" y="266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e>
                          <m:f>
                            <m:fPr>
                              <m:ctrlPr>
                                <a:rPr lang="en-US" sz="2000" i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  <m:e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D26D9241-888F-B605-9C24-3400F5C12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2667000"/>
                <a:ext cx="3810000" cy="369332"/>
              </a:xfrm>
              <a:prstGeom prst="rect">
                <a:avLst/>
              </a:prstGeom>
              <a:blipFill>
                <a:blip r:embed="rId8"/>
                <a:stretch>
                  <a:fillRect b="-4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49E543-E567-980A-D706-E9A3246C3A61}"/>
                  </a:ext>
                </a:extLst>
              </p:cNvPr>
              <p:cNvSpPr txBox="1"/>
              <p:nvPr/>
            </p:nvSpPr>
            <p:spPr>
              <a:xfrm>
                <a:off x="4191000" y="266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2000" i="1">
                              <a:latin typeface="Cambria Math"/>
                            </a:rPr>
                          </m:ctrlPr>
                        </m:borderBox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borderBox>
                      <m:r>
                        <a:rPr lang="en-US" sz="2000" i="0">
                          <a:latin typeface="Cambria Math"/>
                        </a:rPr>
                        <m:t>+</m:t>
                      </m:r>
                      <m:borderBox>
                        <m:borderBox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𝑏</m:t>
                              </m:r>
                            </m:den>
                          </m:f>
                        </m:e>
                      </m:borderBox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D749E543-E567-980A-D706-E9A3246C3A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2667000"/>
                <a:ext cx="3810000" cy="369332"/>
              </a:xfrm>
              <a:prstGeom prst="rect">
                <a:avLst/>
              </a:prstGeom>
              <a:blipFill>
                <a:blip r:embed="rId9"/>
                <a:stretch>
                  <a:fillRect b="-8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C31B78C-5ADC-9664-7772-0236A2DAF5F2}"/>
                  </a:ext>
                </a:extLst>
              </p:cNvPr>
              <p:cNvSpPr txBox="1"/>
              <p:nvPr/>
            </p:nvSpPr>
            <p:spPr>
              <a:xfrm>
                <a:off x="8191500" y="266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groupChr>
                        <m:groupChrPr>
                          <m:chr m:val="⏞"/>
                          <m:pos m:val="top"/>
                          <m:vertJc m:val="bot"/>
                          <m:ctrlPr>
                            <a:rPr lang="en-US" sz="2000" i="1">
                              <a:latin typeface="Cambria Math"/>
                            </a:rPr>
                          </m:ctrlPr>
                        </m:groupChr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  <m:r>
                            <a:rPr lang="en-US" sz="2000" i="0">
                              <a:latin typeface="Cambria Math"/>
                            </a:rPr>
                            <m:t>+</m:t>
                          </m:r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  <m:r>
                            <a:rPr lang="en-US" sz="2000" i="0">
                              <a:latin typeface="Cambria Math"/>
                            </a:rPr>
                            <m:t>+</m:t>
                          </m:r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  <m:r>
                            <a:rPr lang="en-US" sz="2000" i="0">
                              <a:latin typeface="Cambria Math"/>
                            </a:rPr>
                            <m:t>+</m:t>
                          </m:r>
                          <m:r>
                            <a:rPr lang="en-US" sz="2000" i="1">
                              <a:latin typeface="Cambria Math"/>
                            </a:rPr>
                            <m:t>𝑑</m:t>
                          </m:r>
                        </m:e>
                      </m:groupChr>
                      <m:r>
                        <a:rPr lang="en-US" sz="2000" i="0">
                          <a:latin typeface="Cambria Math"/>
                        </a:rPr>
                        <m:t>+</m:t>
                      </m:r>
                      <m:r>
                        <a:rPr lang="en-US" sz="2000" i="1">
                          <a:latin typeface="Cambria Math"/>
                        </a:rPr>
                        <m:t>𝑒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FC31B78C-5ADC-9664-7772-0236A2DAF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0" y="2667000"/>
                <a:ext cx="3810000" cy="369332"/>
              </a:xfrm>
              <a:prstGeom prst="rect">
                <a:avLst/>
              </a:prstGeom>
              <a:blipFill>
                <a:blip r:embed="rId10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65CD896-5B18-5971-53B7-72E2077E7599}"/>
                  </a:ext>
                </a:extLst>
              </p:cNvPr>
              <p:cNvSpPr txBox="1"/>
              <p:nvPr/>
            </p:nvSpPr>
            <p:spPr>
              <a:xfrm>
                <a:off x="190500" y="393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2000" i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US" sz="2000" i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US" sz="2000" i="0">
                              <a:latin typeface="Cambria Math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2000" i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0">
                                  <a:latin typeface="Cambria Math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sz="2000" i="0">
                                      <a:latin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0"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/>
                                    </a:rPr>
                                    <m:t>𝑥</m:t>
                                  </m:r>
                                </m:den>
                              </m:f>
                            </m:den>
                          </m:f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465CD896-5B18-5971-53B7-72E2077E7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" y="3937000"/>
                <a:ext cx="3810000" cy="369332"/>
              </a:xfrm>
              <a:prstGeom prst="rect">
                <a:avLst/>
              </a:prstGeom>
              <a:blipFill>
                <a:blip r:embed="rId11"/>
                <a:stretch>
                  <a:fillRect b="-2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568653F-229B-F70F-AD59-A873F4491B9A}"/>
                  </a:ext>
                </a:extLst>
              </p:cNvPr>
              <p:cNvSpPr txBox="1"/>
              <p:nvPr/>
            </p:nvSpPr>
            <p:spPr>
              <a:xfrm>
                <a:off x="4191000" y="393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000" i="0">
                                  <a:latin typeface="Cambria Math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000" i="0">
                                  <a:latin typeface="Cambria Math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2000" i="1"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000" i="0">
                                  <a:latin typeface="Cambria Math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func>
                      <m:r>
                        <a:rPr lang="en-US" sz="2000" i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sz="2000" i="0">
                              <a:latin typeface="Cambria Math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/>
                            </a:rPr>
                            <m:t>sin</m:t>
                          </m:r>
                        </m:fName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568653F-229B-F70F-AD59-A873F4491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1000" y="3937000"/>
                <a:ext cx="3810000" cy="369332"/>
              </a:xfrm>
              <a:prstGeom prst="rect">
                <a:avLst/>
              </a:prstGeom>
              <a:blipFill>
                <a:blip r:embed="rId12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BEACCF0-76AE-268F-1E23-768F50DC2C11}"/>
                  </a:ext>
                </a:extLst>
              </p:cNvPr>
              <p:cNvSpPr txBox="1"/>
              <p:nvPr/>
            </p:nvSpPr>
            <p:spPr>
              <a:xfrm>
                <a:off x="8191500" y="3937000"/>
                <a:ext cx="38100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2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US" sz="2000" i="1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latin typeface="Cambria Math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en-US" sz="2000" i="1">
                                  <a:latin typeface="Cambria Math"/>
                                </a:rPr>
                                <m:t>𝑏</m:t>
                              </m:r>
                            </m:den>
                          </m:f>
                        </m:sup>
                      </m:sSup>
                      <m:r>
                        <a:rPr lang="en-US" sz="2000" i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f>
                            <m:fPr>
                              <m:ctrlPr>
                                <a:rPr lang="en-US" sz="2000" i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200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1BEACCF0-76AE-268F-1E23-768F50DC2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1500" y="3937000"/>
                <a:ext cx="3810000" cy="369332"/>
              </a:xfrm>
              <a:prstGeom prst="rect">
                <a:avLst/>
              </a:prstGeom>
              <a:blipFill>
                <a:blip r:embed="rId13"/>
                <a:stretch>
                  <a:fillRect b="-7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483E2BFB-2819-7A7C-D01C-FF5B2F41F76E}"/>
                  </a:ext>
                </a:extLst>
              </p:cNvPr>
              <p:cNvSpPr txBox="1"/>
              <p:nvPr/>
            </p:nvSpPr>
            <p:spPr>
              <a:xfrm>
                <a:off x="254000" y="5969000"/>
                <a:ext cx="11430000" cy="461665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r>
                  <a:rPr lang="de-DE" sz="2400"/>
                  <a:t>Inline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sz="2000" i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2000" i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2000" i="0">
                            <a:latin typeface="Cambria Math"/>
                          </a:rPr>
                          <m:t>1</m:t>
                        </m:r>
                      </m:sup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US" sz="2000" i="0">
                            <a:latin typeface="Cambria Math"/>
                          </a:rPr>
                          <m:t>d</m:t>
                        </m:r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</m:nary>
                    <m:r>
                      <a:rPr lang="en-US" sz="2000" i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num>
                      <m:den>
                        <m:r>
                          <a:rPr lang="en-US" sz="2000" i="1">
                            <a:latin typeface="Cambria Math"/>
                          </a:rPr>
                          <m:t>𝑏</m:t>
                        </m:r>
                      </m:den>
                    </m:f>
                    <m:r>
                      <a:rPr lang="en-US" sz="2000" i="0"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US" sz="2000" i="1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</a:rPr>
                              <m:t>𝑎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</a:rPr>
                              <m:t>𝑏</m:t>
                            </m:r>
                          </m:den>
                        </m:f>
                      </m:sup>
                    </m:sSup>
                  </m:oMath>
                </a14:m>
                <a:r>
                  <a:rPr lang="de-DE" sz="2400"/>
                  <a:t> in a sentence.</a:t>
                </a: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483E2BFB-2819-7A7C-D01C-FF5B2F41F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5969000"/>
                <a:ext cx="11430000" cy="461665"/>
              </a:xfrm>
              <a:prstGeom prst="rect">
                <a:avLst/>
              </a:prstGeom>
              <a:blipFill>
                <a:blip r:embed="rId14"/>
                <a:stretch>
                  <a:fillRect l="-853" b="-4342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666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235534B5-DFDD-566A-D1BD-84534604DF48}"/>
                  </a:ext>
                </a:extLst>
              </p:cNvPr>
              <p:cNvSpPr txBox="1"/>
              <p:nvPr/>
            </p:nvSpPr>
            <p:spPr>
              <a:xfrm>
                <a:off x="127000" y="127000"/>
                <a:ext cx="59055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limLoc m:val="subSup"/>
                          <m:ctrlPr>
                            <a:rPr lang="en-US" sz="4000" i="0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4000" i="0"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US" sz="4000" i="0">
                              <a:latin typeface="Cambria Math"/>
                            </a:rPr>
                            <m:t>1</m:t>
                          </m:r>
                        </m:sup>
                        <m:e>
                          <m:r>
                            <a:rPr lang="en-US" sz="4000" i="1">
                              <a:latin typeface="Cambria Math"/>
                            </a:rPr>
                            <m:t>𝑥</m:t>
                          </m:r>
                        </m:e>
                      </m:nary>
                      <m:r>
                        <a:rPr lang="en-US" sz="4000" i="0">
                          <a:latin typeface="Cambria Math"/>
                        </a:rPr>
                        <m:t>+</m:t>
                      </m:r>
                      <m:nary>
                        <m:naryPr>
                          <m:limLoc m:val="subSup"/>
                          <m:subHide m:val="on"/>
                          <m:sup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4000" i="1">
                              <a:latin typeface="Cambria Math"/>
                            </a:rPr>
                            <m:t>𝑥</m:t>
                          </m:r>
                        </m:e>
                      </m:nary>
                      <m:r>
                        <a:rPr lang="en-US" sz="4000" i="0">
                          <a:latin typeface="Cambria Math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subHide m:val="on"/>
                          <m:supHide m:val="on"/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4000" i="1">
                              <a:latin typeface="Cambria Math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235534B5-DFDD-566A-D1BD-84534604D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127000"/>
                <a:ext cx="5905500" cy="369332"/>
              </a:xfrm>
              <a:prstGeom prst="rect">
                <a:avLst/>
              </a:prstGeom>
              <a:blipFill>
                <a:blip r:embed="rId2"/>
                <a:stretch>
                  <a:fillRect b="-28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C517D0A9-858F-2017-E3AE-4459652A771A}"/>
                  </a:ext>
                </a:extLst>
              </p:cNvPr>
              <p:cNvSpPr txBox="1"/>
              <p:nvPr/>
            </p:nvSpPr>
            <p:spPr>
              <a:xfrm>
                <a:off x="6159500" y="127000"/>
                <a:ext cx="59055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undOvr"/>
                          <m:ctrlPr>
                            <a:rPr lang="en-US" sz="4000" i="1"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US" sz="4000" i="1">
                              <a:latin typeface="Cambria Math"/>
                            </a:rPr>
                            <m:t>𝑖</m:t>
                          </m:r>
                          <m:r>
                            <a:rPr lang="en-US" sz="4000" i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4000" i="1">
                              <a:latin typeface="Cambria Math"/>
                            </a:rPr>
                            <m:t>𝑛</m:t>
                          </m:r>
                        </m:sup>
                        <m:e>
                          <m:r>
                            <a:rPr lang="en-US" sz="4000" i="1">
                              <a:latin typeface="Cambria Math"/>
                            </a:rPr>
                            <m:t>𝑥</m:t>
                          </m:r>
                        </m:e>
                      </m:nary>
                      <m:r>
                        <a:rPr lang="en-US" sz="4000" i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4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4000" i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US" sz="4000" i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4000" i="0"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C517D0A9-858F-2017-E3AE-4459652A7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500" y="127000"/>
                <a:ext cx="5905500" cy="369332"/>
              </a:xfrm>
              <a:prstGeom prst="rect">
                <a:avLst/>
              </a:prstGeom>
              <a:blipFill>
                <a:blip r:embed="rId3"/>
                <a:stretch>
                  <a:fillRect b="-36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42825216-36E5-FB53-828B-BC580C791797}"/>
                  </a:ext>
                </a:extLst>
              </p:cNvPr>
              <p:cNvSpPr txBox="1"/>
              <p:nvPr/>
            </p:nvSpPr>
            <p:spPr>
              <a:xfrm>
                <a:off x="127000" y="3492500"/>
                <a:ext cx="59055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𝑖</m:t>
                          </m:r>
                          <m:r>
                            <a:rPr lang="en-US" sz="4000" i="0">
                              <a:latin typeface="Cambria Math"/>
                            </a:rPr>
                            <m:t>=1</m:t>
                          </m:r>
                        </m:sub>
                      </m:sSub>
                      <m:r>
                        <a:rPr lang="en-US" sz="4000" i="0">
                          <a:latin typeface="Cambria Math"/>
                        </a:rPr>
                        <m:t>+</m:t>
                      </m:r>
                      <m:sSup>
                        <m:sSupPr>
                          <m:ctrlPr>
                            <a:rPr lang="en-US" sz="40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sz="4000" i="1">
                              <a:latin typeface="Cambria Math"/>
                            </a:rPr>
                            <m:t>𝑦</m:t>
                          </m:r>
                        </m:e>
                        <m:sup>
                          <m:r>
                            <a:rPr lang="en-US" sz="4000" i="1">
                              <a:latin typeface="Cambria Math"/>
                            </a:rPr>
                            <m:t>𝑎</m:t>
                          </m:r>
                          <m:r>
                            <a:rPr lang="en-US" sz="4000" i="0">
                              <a:latin typeface="Cambria Math"/>
                            </a:rPr>
                            <m:t>+</m:t>
                          </m:r>
                          <m:r>
                            <a:rPr lang="en-US" sz="4000" i="1">
                              <a:latin typeface="Cambria Math"/>
                            </a:rPr>
                            <m:t>𝑏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42825216-36E5-FB53-828B-BC580C7917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3492500"/>
                <a:ext cx="5905500" cy="369332"/>
              </a:xfrm>
              <a:prstGeom prst="rect">
                <a:avLst/>
              </a:prstGeom>
              <a:blipFill>
                <a:blip r:embed="rId4"/>
                <a:stretch>
                  <a:fillRect b="-7377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1078DD23-7C74-4C48-5FAB-772FED484FF6}"/>
                  </a:ext>
                </a:extLst>
              </p:cNvPr>
              <p:cNvSpPr txBox="1"/>
              <p:nvPr/>
            </p:nvSpPr>
            <p:spPr>
              <a:xfrm>
                <a:off x="6159500" y="3492500"/>
                <a:ext cx="59055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>
                          <a:latin typeface="Cambria Math"/>
                        </a:rPr>
                        <m:t>𝑎𝑏𝑐𝑑𝑒𝑓𝑔ℎ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1078DD23-7C74-4C48-5FAB-772FED484F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500" y="3492500"/>
                <a:ext cx="5905500" cy="369332"/>
              </a:xfrm>
              <a:prstGeom prst="rect">
                <a:avLst/>
              </a:prstGeom>
              <a:blipFill>
                <a:blip r:embed="rId5"/>
                <a:stretch>
                  <a:fillRect b="-6885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A8DFC6F0-EDA7-502B-AA96-128449394A8F}"/>
                  </a:ext>
                </a:extLst>
              </p:cNvPr>
              <p:cNvSpPr txBox="1"/>
              <p:nvPr/>
            </p:nvSpPr>
            <p:spPr>
              <a:xfrm>
                <a:off x="254000" y="5969000"/>
                <a:ext cx="11430000" cy="461665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r>
                  <a:rPr lang="de-DE" sz="2400"/>
                  <a:t>Text </a:t>
                </a:r>
                <a14:m>
                  <m:oMath xmlns:m="http://schemas.openxmlformats.org/officeDocument/2006/math">
                    <m:nary>
                      <m:naryPr>
                        <m:limLoc m:val="subSup"/>
                        <m:ctrlPr>
                          <a:rPr lang="en-US" sz="4000" i="0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4000" i="0">
                            <a:latin typeface="Cambria Math"/>
                          </a:rPr>
                          <m:t>0</m:t>
                        </m:r>
                      </m:sub>
                      <m:sup>
                        <m:r>
                          <a:rPr lang="en-US" sz="4000" i="0">
                            <a:latin typeface="Cambria Math"/>
                          </a:rPr>
                          <m:t>1</m:t>
                        </m:r>
                      </m:sup>
                      <m:e>
                        <m:r>
                          <a:rPr lang="en-US" sz="4000" i="1">
                            <a:latin typeface="Cambria Math"/>
                          </a:rPr>
                          <m:t>𝑥</m:t>
                        </m:r>
                      </m:e>
                    </m:nary>
                    <m:r>
                      <a:rPr lang="en-US" sz="4000" i="0">
                        <a:latin typeface="Cambria Math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4000" i="1">
                            <a:latin typeface="Cambria Math"/>
                          </a:rPr>
                        </m:ctrlPr>
                      </m:naryPr>
                      <m:sub>
                        <m:r>
                          <a:rPr lang="en-US" sz="4000" i="1">
                            <a:latin typeface="Cambria Math"/>
                          </a:rPr>
                          <m:t>𝑖</m:t>
                        </m:r>
                        <m:r>
                          <a:rPr lang="en-US" sz="4000" i="0">
                            <a:latin typeface="Cambria Math"/>
                          </a:rPr>
                          <m:t>=1</m:t>
                        </m:r>
                      </m:sub>
                      <m:sup>
                        <m:r>
                          <a:rPr lang="en-US" sz="4000" i="1">
                            <a:latin typeface="Cambria Math"/>
                          </a:rPr>
                          <m:t>𝑛</m:t>
                        </m:r>
                      </m:sup>
                      <m:e>
                        <m:r>
                          <a:rPr lang="en-US" sz="4000" i="1">
                            <a:latin typeface="Cambria Math"/>
                          </a:rPr>
                          <m:t>𝑥</m:t>
                        </m:r>
                      </m:e>
                    </m:nary>
                  </m:oMath>
                </a14:m>
                <a:r>
                  <a:rPr lang="de-DE" sz="2400"/>
                  <a:t> end</a:t>
                </a:r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A8DFC6F0-EDA7-502B-AA96-128449394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000" y="5969000"/>
                <a:ext cx="11430000" cy="461665"/>
              </a:xfrm>
              <a:prstGeom prst="rect">
                <a:avLst/>
              </a:prstGeom>
              <a:blipFill>
                <a:blip r:embed="rId6"/>
                <a:stretch>
                  <a:fillRect l="-853" b="-10131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398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D5DD57F8-97CE-3DF2-4D2B-C8C757873BC1}"/>
                  </a:ext>
                </a:extLst>
              </p:cNvPr>
              <p:cNvSpPr txBox="1"/>
              <p:nvPr/>
            </p:nvSpPr>
            <p:spPr>
              <a:xfrm>
                <a:off x="127000" y="127000"/>
                <a:ext cx="59055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  <m:r>
                            <a:rPr lang="en-US" sz="2800" i="0">
                              <a:latin typeface="Cambria Math"/>
                            </a:rPr>
                            <m:t>&amp;=1</m:t>
                          </m:r>
                        </m:e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  <m:r>
                            <a:rPr lang="en-US" sz="2800" i="0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  <m:r>
                            <a:rPr lang="en-US" sz="2800" i="0">
                              <a:latin typeface="Cambria Math"/>
                            </a:rPr>
                            <m:t>&amp;=12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D5DD57F8-97CE-3DF2-4D2B-C8C757873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127000"/>
                <a:ext cx="5905500" cy="369332"/>
              </a:xfrm>
              <a:prstGeom prst="rect">
                <a:avLst/>
              </a:prstGeom>
              <a:blipFill>
                <a:blip r:embed="rId2"/>
                <a:stretch>
                  <a:fillRect b="-1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3CCDE5B8-02A6-CBAD-095D-84854F79A5C3}"/>
                  </a:ext>
                </a:extLst>
              </p:cNvPr>
              <p:cNvSpPr txBox="1"/>
              <p:nvPr/>
            </p:nvSpPr>
            <p:spPr>
              <a:xfrm>
                <a:off x="6159500" y="127000"/>
                <a:ext cx="59055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eqArr>
                        <m:eqArr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en-US" sz="2800" i="1">
                              <a:latin typeface="Cambria Math"/>
                            </a:rPr>
                            <m:t>𝑥</m:t>
                          </m:r>
                          <m:r>
                            <a:rPr lang="en-US" sz="2800" i="0">
                              <a:latin typeface="Cambria Math"/>
                            </a:rPr>
                            <m:t>&amp;=1&amp;</m:t>
                          </m:r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  <m:r>
                            <a:rPr lang="en-US" sz="2800" i="0">
                              <a:latin typeface="Cambria Math"/>
                            </a:rPr>
                            <m:t>&amp;=2</m:t>
                          </m:r>
                        </m:e>
                        <m:e>
                          <m:r>
                            <a:rPr lang="en-US" sz="2800" i="1">
                              <a:latin typeface="Cambria Math"/>
                            </a:rPr>
                            <m:t>𝑎</m:t>
                          </m:r>
                          <m:r>
                            <a:rPr lang="en-US" sz="2800" i="0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𝑏</m:t>
                          </m:r>
                          <m:r>
                            <a:rPr lang="en-US" sz="2800" i="0">
                              <a:latin typeface="Cambria Math"/>
                            </a:rPr>
                            <m:t>&amp;=3&amp;</m:t>
                          </m:r>
                          <m:r>
                            <a:rPr lang="en-US" sz="2800" i="1">
                              <a:latin typeface="Cambria Math"/>
                            </a:rPr>
                            <m:t>𝑐</m:t>
                          </m:r>
                          <m:r>
                            <a:rPr lang="en-US" sz="2800" i="0">
                              <a:latin typeface="Cambria Math"/>
                            </a:rPr>
                            <m:t>&amp;=45</m:t>
                          </m:r>
                        </m:e>
                      </m:eqAr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3CCDE5B8-02A6-CBAD-095D-84854F79A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500" y="127000"/>
                <a:ext cx="5905500" cy="369332"/>
              </a:xfrm>
              <a:prstGeom prst="rect">
                <a:avLst/>
              </a:prstGeom>
              <a:blipFill>
                <a:blip r:embed="rId3"/>
                <a:stretch>
                  <a:fillRect b="-115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6E9C7E5-DE37-8CC5-626D-0FEE40FA84E4}"/>
                  </a:ext>
                </a:extLst>
              </p:cNvPr>
              <p:cNvSpPr txBox="1"/>
              <p:nvPr/>
            </p:nvSpPr>
            <p:spPr>
              <a:xfrm>
                <a:off x="127000" y="3048000"/>
                <a:ext cx="59055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0">
                          <a:latin typeface="Cambria Math"/>
                        </a:rPr>
                        <m:t>ℝℕ</m:t>
                      </m:r>
                      <m:r>
                        <a:rPr lang="en-US" sz="2800" i="0">
                          <a:latin typeface="Cambria Math"/>
                        </a:rPr>
                        <m:t>+</m:t>
                      </m:r>
                      <m:r>
                        <a:rPr lang="en-US" sz="2800" i="0">
                          <a:latin typeface="Cambria Math"/>
                        </a:rPr>
                        <m:t>ℒ</m:t>
                      </m:r>
                      <m:r>
                        <a:rPr lang="en-US" sz="2800" i="0">
                          <a:latin typeface="Cambria Math"/>
                        </a:rPr>
                        <m:t>+</m:t>
                      </m:r>
                      <m:r>
                        <a:rPr lang="en-US" sz="2800" i="0">
                          <a:latin typeface="Cambria Math"/>
                        </a:rPr>
                        <m:t>𝔤</m:t>
                      </m:r>
                      <m:r>
                        <a:rPr lang="en-US" sz="2800" i="0">
                          <a:latin typeface="Cambria Math"/>
                        </a:rPr>
                        <m:t>+</m:t>
                      </m:r>
                      <m:r>
                        <a:rPr lang="en-US" sz="2800" i="0">
                          <a:latin typeface="Cambria Math"/>
                        </a:rPr>
                        <m:t>𝘹</m:t>
                      </m:r>
                      <m:r>
                        <a:rPr lang="en-US" sz="2800" i="0">
                          <a:latin typeface="Cambria Math"/>
                        </a:rPr>
                        <m:t>+</m:t>
                      </m:r>
                      <m:r>
                        <a:rPr lang="en-US" sz="2800" i="0">
                          <a:latin typeface="Cambria Math"/>
                        </a:rPr>
                        <m:t>𝚢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C6E9C7E5-DE37-8CC5-626D-0FEE40FA8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00" y="3048000"/>
                <a:ext cx="5905500" cy="369332"/>
              </a:xfrm>
              <a:prstGeom prst="rect">
                <a:avLst/>
              </a:prstGeom>
              <a:blipFill>
                <a:blip r:embed="rId4"/>
                <a:stretch>
                  <a:fillRect b="-213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B71A5FD-BF8C-2DF2-40F6-DF176998541B}"/>
                  </a:ext>
                </a:extLst>
              </p:cNvPr>
              <p:cNvSpPr txBox="1"/>
              <p:nvPr/>
            </p:nvSpPr>
            <p:spPr>
              <a:xfrm>
                <a:off x="6159500" y="3048000"/>
                <a:ext cx="5905500" cy="369332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0">
                          <a:latin typeface="Cambria Math"/>
                        </a:rPr>
                        <m:t>𝛂</m:t>
                      </m:r>
                      <m:r>
                        <a:rPr lang="en-US" sz="2800" i="0">
                          <a:latin typeface="Cambria Math"/>
                        </a:rPr>
                        <m:t>+</m:t>
                      </m:r>
                      <m:r>
                        <a:rPr lang="en-US" sz="2800" i="0">
                          <a:latin typeface="Cambria Math"/>
                        </a:rPr>
                        <m:t>𝚪</m:t>
                      </m:r>
                      <m:r>
                        <a:rPr lang="en-US" sz="2800" i="0">
                          <a:latin typeface="Cambria Math"/>
                        </a:rPr>
                        <m:t>+</m:t>
                      </m:r>
                      <m:r>
                        <a:rPr lang="en-US" sz="2800" i="0">
                          <a:latin typeface="Cambria Math"/>
                        </a:rPr>
                        <m:t>𝜞</m:t>
                      </m:r>
                      <m:r>
                        <a:rPr lang="en-US" sz="2800" i="0">
                          <a:latin typeface="Cambria Math"/>
                        </a:rPr>
                        <m:t>+</m:t>
                      </m:r>
                      <m:r>
                        <a:rPr lang="en-US" sz="2800" i="1">
                          <a:latin typeface="Cambria Math"/>
                        </a:rPr>
                        <m:t>𝛤</m:t>
                      </m:r>
                      <m:r>
                        <a:rPr lang="en-US" sz="2800" i="0">
                          <a:latin typeface="Cambria Math"/>
                        </a:rPr>
                        <m:t>+</m:t>
                      </m:r>
                      <m:r>
                        <a:rPr lang="en-US" sz="2800" i="0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0B71A5FD-BF8C-2DF2-40F6-DF1769985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9500" y="3048000"/>
                <a:ext cx="5905500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9044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</Words>
  <Application>Microsoft Office PowerPoint</Application>
  <PresentationFormat>Breitbild</PresentationFormat>
  <Paragraphs>38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2026-10-09T13:46:48Z</dcterms:created>
  <dcterms:modified xsi:type="dcterms:W3CDTF">2026-10-09T13:46:49Z</dcterms:modified>
</cp:coreProperties>
</file>