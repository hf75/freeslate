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81-4F78-8784-6DF4BB01B4F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81-4F78-8784-6DF4BB01B4F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81-4F78-8784-6DF4BB01B4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0058368"/>
        <c:axId val="1019254160"/>
      </c:barChart>
      <c:catAx>
        <c:axId val="101005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54160"/>
        <c:crosses val="autoZero"/>
        <c:auto val="1"/>
        <c:lblAlgn val="ctr"/>
        <c:lblOffset val="100"/>
        <c:noMultiLvlLbl val="0"/>
      </c:catAx>
      <c:valAx>
        <c:axId val="101925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005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E9-4AED-9127-4699742E2607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E9-4AED-9127-4699742E2607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E9-4AED-9127-4699742E2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0087600"/>
        <c:axId val="1019261840"/>
      </c:barChart>
      <c:catAx>
        <c:axId val="101008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61840"/>
        <c:crosses val="autoZero"/>
        <c:auto val="1"/>
        <c:lblAlgn val="ctr"/>
        <c:lblOffset val="100"/>
        <c:noMultiLvlLbl val="0"/>
      </c:catAx>
      <c:valAx>
        <c:axId val="101926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008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C3-490E-AA90-B603B0C01DE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C3-490E-AA90-B603B0C01DE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C3-490E-AA90-B603B0C01D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0082960"/>
        <c:axId val="1019261360"/>
      </c:barChart>
      <c:catAx>
        <c:axId val="101008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61360"/>
        <c:crosses val="autoZero"/>
        <c:auto val="1"/>
        <c:lblAlgn val="ctr"/>
        <c:lblOffset val="100"/>
        <c:noMultiLvlLbl val="0"/>
      </c:catAx>
      <c:valAx>
        <c:axId val="1019261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008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BB-4AEC-9874-6C21B19A2C6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BB-4AEC-9874-6C21B19A2C6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BB-4AEC-9874-6C21B19A2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19147824"/>
        <c:axId val="1019280560"/>
      </c:barChart>
      <c:catAx>
        <c:axId val="101914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80560"/>
        <c:crosses val="autoZero"/>
        <c:auto val="1"/>
        <c:lblAlgn val="ctr"/>
        <c:lblOffset val="100"/>
        <c:noMultiLvlLbl val="0"/>
      </c:catAx>
      <c:valAx>
        <c:axId val="1019280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14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A0-4E66-80CA-E4F2594F960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A0-4E66-80CA-E4F2594F9603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A0-4E66-80CA-E4F2594F9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8176384"/>
        <c:axId val="1019275760"/>
      </c:lineChart>
      <c:catAx>
        <c:axId val="99817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75760"/>
        <c:crosses val="autoZero"/>
        <c:auto val="1"/>
        <c:lblAlgn val="ctr"/>
        <c:lblOffset val="100"/>
        <c:noMultiLvlLbl val="0"/>
      </c:catAx>
      <c:valAx>
        <c:axId val="101927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9817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8-40C7-947C-7CBB830CBCC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88-40C7-947C-7CBB830CB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49885071"/>
        <c:axId val="1019272880"/>
      </c:areaChart>
      <c:dateAx>
        <c:axId val="849885071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72880"/>
        <c:crosses val="autoZero"/>
        <c:auto val="1"/>
        <c:lblOffset val="100"/>
        <c:baseTimeUnit val="months"/>
      </c:dateAx>
      <c:valAx>
        <c:axId val="1019272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498850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96-4A81-9878-35CD01E39ED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96-4A81-9878-35CD01E39E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9155248"/>
        <c:axId val="1019270960"/>
      </c:areaChart>
      <c:dateAx>
        <c:axId val="10191552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70960"/>
        <c:crosses val="autoZero"/>
        <c:auto val="1"/>
        <c:lblOffset val="100"/>
        <c:baseTimeUnit val="months"/>
      </c:dateAx>
      <c:valAx>
        <c:axId val="1019270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155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AC-4E2D-AFD6-AA9824E07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33-4935-848B-86D7319FB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Measured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Tabelle1!$A$2:$A$6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f>Tabelle1!$B$2:$B$6</c:f>
              <c:numCache>
                <c:formatCode>General</c:formatCode>
                <c:ptCount val="5"/>
                <c:pt idx="0">
                  <c:v>2.1</c:v>
                </c:pt>
                <c:pt idx="1">
                  <c:v>3.9</c:v>
                </c:pt>
                <c:pt idx="2">
                  <c:v>6.2</c:v>
                </c:pt>
                <c:pt idx="3">
                  <c:v>9.8000000000000007</c:v>
                </c:pt>
                <c:pt idx="4">
                  <c:v>16.5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8A0-4169-A770-DBADBDB7E3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9146896"/>
        <c:axId val="1019287280"/>
      </c:scatterChart>
      <c:valAx>
        <c:axId val="1019146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87280"/>
        <c:crosses val="autoZero"/>
        <c:crossBetween val="midCat"/>
      </c:valAx>
      <c:valAx>
        <c:axId val="101928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1468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Revenue by quarter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B5-4C24-8F4C-6E09CA2C4A3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13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B5-4C24-8F4C-6E09CA2C4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8189376"/>
        <c:axId val="1019294480"/>
      </c:barChart>
      <c:catAx>
        <c:axId val="9981893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Quarter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94480"/>
        <c:crosses val="autoZero"/>
        <c:auto val="1"/>
        <c:lblAlgn val="ctr"/>
        <c:lblOffset val="100"/>
        <c:noMultiLvlLbl val="0"/>
      </c:catAx>
      <c:valAx>
        <c:axId val="1019294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Million €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98189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07-4D92-9406-0B058999090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7-4D92-9406-0B058999090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07-4D92-9406-0B0589990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338688"/>
        <c:axId val="1019300240"/>
      </c:barChart>
      <c:catAx>
        <c:axId val="102233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de-DE"/>
          </a:p>
        </c:txPr>
        <c:crossAx val="1019300240"/>
        <c:crosses val="autoZero"/>
        <c:auto val="1"/>
        <c:lblAlgn val="ctr"/>
        <c:lblOffset val="100"/>
        <c:noMultiLvlLbl val="0"/>
      </c:catAx>
      <c:valAx>
        <c:axId val="101930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de-DE"/>
          </a:p>
        </c:txPr>
        <c:crossAx val="102233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</a:defRPr>
      </a:pPr>
      <a:endParaRPr lang="de-DE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24-4569-8FA1-5308FBC5413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24-4569-8FA1-5308FBC5413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24-4569-8FA1-5308FBC54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332656"/>
        <c:axId val="1019293520"/>
      </c:barChart>
      <c:catAx>
        <c:axId val="102233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de-DE"/>
          </a:p>
        </c:txPr>
        <c:crossAx val="1019293520"/>
        <c:crosses val="autoZero"/>
        <c:auto val="1"/>
        <c:lblAlgn val="ctr"/>
        <c:lblOffset val="100"/>
        <c:noMultiLvlLbl val="0"/>
      </c:catAx>
      <c:valAx>
        <c:axId val="1019293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de-DE"/>
          </a:p>
        </c:txPr>
        <c:crossAx val="102233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1250</c:v>
                </c:pt>
                <c:pt idx="1">
                  <c:v>2380</c:v>
                </c:pt>
                <c:pt idx="2">
                  <c:v>1975</c:v>
                </c:pt>
                <c:pt idx="3">
                  <c:v>3120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0F-46F0-A30B-08FE480EEB3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1430</c:v>
                </c:pt>
                <c:pt idx="1">
                  <c:v>2210</c:v>
                </c:pt>
                <c:pt idx="2">
                  <c:v>2490</c:v>
                </c:pt>
                <c:pt idx="3">
                  <c:v>3560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0F-46F0-A30B-08FE480EE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354928"/>
        <c:axId val="1019288240"/>
      </c:barChart>
      <c:catAx>
        <c:axId val="102235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88240"/>
        <c:crosses val="autoZero"/>
        <c:auto val="1"/>
        <c:lblAlgn val="ctr"/>
        <c:lblOffset val="100"/>
        <c:noMultiLvlLbl val="0"/>
      </c:catAx>
      <c:valAx>
        <c:axId val="101928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22354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3.5</c:v>
                </c:pt>
                <c:pt idx="1">
                  <c:v>-1.2</c:v>
                </c:pt>
                <c:pt idx="2">
                  <c:v>2.4</c:v>
                </c:pt>
                <c:pt idx="3">
                  <c:v>-2.8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4-4899-B25D-86E042FB5A3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1.5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24-4899-B25D-86E042FB5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349360"/>
        <c:axId val="1019302640"/>
      </c:barChart>
      <c:catAx>
        <c:axId val="102234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02640"/>
        <c:crosses val="autoZero"/>
        <c:auto val="1"/>
        <c:lblAlgn val="ctr"/>
        <c:lblOffset val="100"/>
        <c:noMultiLvlLbl val="0"/>
      </c:catAx>
      <c:valAx>
        <c:axId val="1019302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2234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 America and Canada</c:v>
                </c:pt>
                <c:pt idx="1">
                  <c:v>Europe, Middle East and Africa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4-4F1E-B444-BD4AD6924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360496"/>
        <c:axId val="1019305040"/>
      </c:barChart>
      <c:catAx>
        <c:axId val="1022360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05040"/>
        <c:crosses val="autoZero"/>
        <c:auto val="1"/>
        <c:lblAlgn val="ctr"/>
        <c:lblOffset val="100"/>
        <c:noMultiLvlLbl val="0"/>
      </c:catAx>
      <c:valAx>
        <c:axId val="1019305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22360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Visitors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135</c:v>
                </c:pt>
                <c:pt idx="2">
                  <c:v>160</c:v>
                </c:pt>
                <c:pt idx="3">
                  <c:v>158</c:v>
                </c:pt>
                <c:pt idx="4">
                  <c:v>190</c:v>
                </c:pt>
                <c:pt idx="5">
                  <c:v>240</c:v>
                </c:pt>
                <c:pt idx="6">
                  <c:v>310</c:v>
                </c:pt>
                <c:pt idx="7">
                  <c:v>298</c:v>
                </c:pt>
                <c:pt idx="8">
                  <c:v>220</c:v>
                </c:pt>
                <c:pt idx="9">
                  <c:v>180</c:v>
                </c:pt>
                <c:pt idx="10">
                  <c:v>150</c:v>
                </c:pt>
                <c:pt idx="11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3C-499F-8EF1-C8900EE3B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2352144"/>
        <c:axId val="1019304080"/>
      </c:lineChart>
      <c:catAx>
        <c:axId val="102235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04080"/>
        <c:crosses val="autoZero"/>
        <c:auto val="1"/>
        <c:lblAlgn val="ctr"/>
        <c:lblOffset val="100"/>
        <c:noMultiLvlLbl val="0"/>
      </c:catAx>
      <c:valAx>
        <c:axId val="101930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22352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CB-4D87-BE01-F2EBA97CEAD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CB-4D87-BE01-F2EBA97CEAD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CB-4D87-BE01-F2EBA97CE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9170560"/>
        <c:axId val="1019318960"/>
      </c:barChart>
      <c:catAx>
        <c:axId val="101917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18960"/>
        <c:crosses val="autoZero"/>
        <c:auto val="1"/>
        <c:lblAlgn val="ctr"/>
        <c:lblOffset val="100"/>
        <c:noMultiLvlLbl val="0"/>
      </c:catAx>
      <c:valAx>
        <c:axId val="101931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170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17-48FD-8464-83DF08A0C5A4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17-48FD-8464-83DF08A0C5A4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17-48FD-8464-83DF08A0C5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9172416"/>
        <c:axId val="1019329520"/>
      </c:lineChart>
      <c:catAx>
        <c:axId val="101917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29520"/>
        <c:crosses val="autoZero"/>
        <c:auto val="1"/>
        <c:lblAlgn val="ctr"/>
        <c:lblOffset val="100"/>
        <c:noMultiLvlLbl val="0"/>
      </c:catAx>
      <c:valAx>
        <c:axId val="101932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17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3-4048-996C-C68F8616B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B67ED-4F62-4083-F26D-63BD399AC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CC2091-7EF8-C6E9-8DEC-6791E4DFA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234AF1-B6C2-98D5-797A-43AE1285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63B87D-9778-3AF8-87D1-FF54AAF0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54C663-3731-6393-9617-83850173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70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E40EA-CFC1-A153-C996-E4C00223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71995-87FD-4582-04DA-319CAC0FD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E00053-1786-C1BD-0C49-EEAE6F58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0CEDFD-87D9-1A10-FD35-699834E2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3FDFA4-3B52-40F2-B3B5-FD2C3C3D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46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BFEF2-01FE-B269-FAB3-C42E84B4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97D999-1FDE-B57C-9CE8-290CD3843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521A72-4992-1CD5-EF62-99B819A0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E4742-97A6-434A-3866-477B5860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9D5DFD-1250-A83D-6161-1EBFA466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7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4A919-1AB9-796E-031D-BFC75EB8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85D0E-7266-E7BD-C8DB-9FE8FD1B5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F8CD88-D5DE-8358-390E-F7265F133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37ECF4-FD76-B220-DBBE-E16D96B4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8FB3E2-09FE-4045-425F-7102DDB5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F954A1-30A9-BF4D-9772-9D6ED11E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26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AD5C1-F775-6D29-47A4-EAB5A710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46F317-8C8F-B82D-7364-0CE6DB26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2B6DB7-8890-574D-6312-DD609A6DC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07EC4B-375E-F777-98B1-8423E8BBC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E72581-874E-121E-7093-7279ED9BB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57EB822-1F30-D511-0F74-11D710EC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22FCB21-818E-8265-0DA8-143A5E56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41E2BA9-E58B-2C8F-96D2-ED48D60E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15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5D363B-D45C-3EE1-6B00-AC7377F4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B104F9-9121-8886-4E09-A529359E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6E71BD-A0B2-7688-0768-D8B4C717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ECEC96-E9F3-356E-48C7-35E418FF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1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F4D2F9-8C93-5B94-57AC-6EAEF212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72402D-DF8C-DE2A-E758-B4F40FE7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62419B-2A2E-9AAC-90D5-C0DD451A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54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371EC-B456-8198-E9FA-AA5BF375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FC2334-578B-898B-FF4D-17E7B593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1E4CC1-30CD-2C1E-AE83-6AFA8E010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BA8452-733C-559E-8396-360A16F5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8FBC6B-A0C6-8867-2744-3837A8C4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F7147B-679C-4412-60D3-50891A3A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90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1BA31-CB29-BB2D-D1A3-DCC61E35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211AAC-8950-A719-EB94-01097EBBAC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16FE77-0D57-6FEA-F064-B7819EE96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9D6DCE-C1FC-72D7-ED96-C920752C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83A9BA-DC06-87A3-BE5D-A1E72FD0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C4FCC-2434-807E-A95E-6508B1A6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82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CA629-BCA7-A333-9118-F1DDE6DC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104347-2F0F-41DC-4386-3FBC4C68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831E3D-24ED-47B9-2F33-DF51C69F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08FFCC-3FA0-3C98-905A-93E09DB6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5CA0A0-C77A-7A74-7FBA-0A2EEF2F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3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7D0D79E-BB3E-0C76-2504-4F73E8EDE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0628B4-FCB5-81EB-3267-05571511E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06AACA-4295-91F8-EACD-E9448415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ECE91-E0EE-4B74-64DB-3E64DD1A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CF56D6-27BF-456B-7997-B0C8DEAF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837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4255558-729B-846B-E401-07CC0978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D5438A-6DA6-06B0-D22E-EBCF0E640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8CBC68-C5E7-5766-51E5-AA499D261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74DA6-B421-459B-94EB-719F27DFB1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821508-2F73-4CD1-D275-775D2CD5F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3E5BB-F4B9-231E-B286-3113E7304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30AED-76DA-4276-897E-88C4F4D616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19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1B8CBA-3878-7C62-D95A-2231D0BF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labels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51EC3AD0-2E5A-3678-6B5E-5525680614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500639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4710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93CDF-E04C-D58F-C8E8-120814C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Stacked, centered labels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09C9D64-1B0D-5B29-C7C1-172959D3A7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279957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440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15B50-0B71-DBE4-9F63-B807407D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100 % stacked, legend top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AC83BA4-B18B-F4DB-9027-848058FE4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229922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335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0EA39-8686-219D-3642-A6512B04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Clustered bar, legend right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9D897A45-12DC-73B8-C67E-F407E66FA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427291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138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05A3F-1BE1-E868-04D0-E7F28C87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Line with markers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3D2C5F39-E446-3099-E9E5-F643A32BF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1577645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610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6AFE9-B481-6FA7-1134-27A6AE86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Area and stacked area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8AEB2A9-F97D-B19A-9C8F-F8C693023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4460932"/>
              </p:ext>
            </p:extLst>
          </p:nvPr>
        </p:nvGraphicFramePr>
        <p:xfrm>
          <a:off x="508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FDAC277-FED5-327F-8A8C-83E9E075D6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251116"/>
              </p:ext>
            </p:extLst>
          </p:nvPr>
        </p:nvGraphicFramePr>
        <p:xfrm>
          <a:off x="6223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846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1871B-A8D2-7AAF-A603-AB51EC8A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Doughnut, percentages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AFF38AD-7F73-936F-4F91-701798725B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2803668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160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1C8F26-6273-7482-F65B-38FCDD79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Pie, category and percentage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9DD72EEE-A845-DB5D-A341-7A6F4F788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103815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555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A2F08-F01B-E532-FFF8-D236FE4EA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Scatter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CEDE1D7-4012-2D34-94C0-72D7A7A6D1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4072220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710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28BB2-4AFF-61D1-73C3-C06688E8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Titles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E10948E-DDE3-2ABC-39A5-B9AF4827EC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476453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187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AABFF-4408-5435-8B26-3CAEEE00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Calibri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60EF0DA0-D605-9541-F2EB-C76F888D83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905244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852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4F435-7EB1-C5AF-FCD6-ADE9701B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Arial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6F4D885-1D40-29A5-3770-100FA7D9C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254251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970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FEA52-FADD-7CED-1F0B-577565C2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Thousands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6345DB7-0059-DC19-74D9-51D6A1B977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3603838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8474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EE071-F058-9C51-0D4B-037F1911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Negative values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55BD048-C063-B2E2-8E9B-1BA889997F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4922392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5007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3C125-4BFC-BC2B-B376-557A6D08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Long categories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3117740-887F-CF23-D7E3-90C2E8CC05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278633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5503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70B33-D140-E2B6-C856-AB98F718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Twelve months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AC60BB1-3BD4-61BD-A000-EF09D8AD1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351830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0868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1C114-4F54-A393-12E8-E586180B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Small charts, legend left and corner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665C6F4-6775-3C13-1204-11EB53AC2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464541"/>
              </p:ext>
            </p:extLst>
          </p:nvPr>
        </p:nvGraphicFramePr>
        <p:xfrm>
          <a:off x="508000" y="1778000"/>
          <a:ext cx="3556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7C9AE4AD-C910-4BD6-EC1F-16A95CB94E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350706"/>
              </p:ext>
            </p:extLst>
          </p:nvPr>
        </p:nvGraphicFramePr>
        <p:xfrm>
          <a:off x="4318000" y="1778000"/>
          <a:ext cx="3556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FF1F4025-D3E2-9742-2688-9EE3213B4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242697"/>
              </p:ext>
            </p:extLst>
          </p:nvPr>
        </p:nvGraphicFramePr>
        <p:xfrm>
          <a:off x="8128000" y="1778000"/>
          <a:ext cx="3556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3956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Benutzerdefiniert</PresentationFormat>
  <Paragraphs>20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Data labels</vt:lpstr>
      <vt:lpstr>Stacked, centered labels</vt:lpstr>
      <vt:lpstr>100 % stacked, legend top</vt:lpstr>
      <vt:lpstr>Clustered bar, legend right</vt:lpstr>
      <vt:lpstr>Line with markers</vt:lpstr>
      <vt:lpstr>Area and stacked area</vt:lpstr>
      <vt:lpstr>Doughnut, percentages</vt:lpstr>
      <vt:lpstr>Pie, category and percentage</vt:lpstr>
      <vt:lpstr>Scatter</vt:lpstr>
      <vt:lpstr>Titles</vt:lpstr>
      <vt:lpstr>Calibri</vt:lpstr>
      <vt:lpstr>Arial</vt:lpstr>
      <vt:lpstr>Thousands</vt:lpstr>
      <vt:lpstr>Negative values</vt:lpstr>
      <vt:lpstr>Long categories</vt:lpstr>
      <vt:lpstr>Twelve months</vt:lpstr>
      <vt:lpstr>Small charts, legend left and corner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2026-10-08T09:48:30Z</dcterms:created>
  <dcterms:modified xsi:type="dcterms:W3CDTF">2026-10-08T09:48:30Z</dcterms:modified>
</cp:coreProperties>
</file>