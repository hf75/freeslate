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" d="100"/>
          <a:sy n="14" d="100"/>
        </p:scale>
        <p:origin x="426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Result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1"/>
          <c:cat>
            <c:strRef>
              <c:f>Tabelle1!$A$2:$A$6</c:f>
              <c:strCache>
                <c:ptCount val="5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</c:strCache>
            </c:strRef>
          </c:cat>
          <c:val>
            <c:numRef>
              <c:f>Tabelle1!$B$2:$B$6</c:f>
              <c:numCache>
                <c:formatCode>General</c:formatCode>
                <c:ptCount val="5"/>
                <c:pt idx="0">
                  <c:v>12</c:v>
                </c:pt>
                <c:pt idx="1">
                  <c:v>-7</c:v>
                </c:pt>
                <c:pt idx="2">
                  <c:v>5</c:v>
                </c:pt>
                <c:pt idx="3">
                  <c:v>-11</c:v>
                </c:pt>
                <c:pt idx="4">
                  <c:v>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  <a:effectLst/>
                </c14:spPr>
              </c14:invertSolidFillFmt>
            </c:ext>
            <c:ext xmlns:c16="http://schemas.microsoft.com/office/drawing/2014/chart" uri="{C3380CC4-5D6E-409C-BE32-E72D297353CC}">
              <c16:uniqueId val="{00000000-E5AC-453A-B7E2-2CB1464BBC10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Plan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1"/>
          <c:cat>
            <c:strRef>
              <c:f>Tabelle1!$A$2:$A$6</c:f>
              <c:strCache>
                <c:ptCount val="5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</c:strCache>
            </c:strRef>
          </c:cat>
          <c:val>
            <c:numRef>
              <c:f>Tabelle1!$C$2:$C$6</c:f>
              <c:numCache>
                <c:formatCode>General</c:formatCode>
                <c:ptCount val="5"/>
                <c:pt idx="0">
                  <c:v>-4</c:v>
                </c:pt>
                <c:pt idx="1">
                  <c:v>6</c:v>
                </c:pt>
                <c:pt idx="2">
                  <c:v>-9</c:v>
                </c:pt>
                <c:pt idx="3">
                  <c:v>3</c:v>
                </c:pt>
                <c:pt idx="4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5AC-453A-B7E2-2CB1464BBC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541200"/>
        <c:axId val="1193382576"/>
      </c:barChart>
      <c:catAx>
        <c:axId val="55412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93382576"/>
        <c:crosses val="autoZero"/>
        <c:auto val="1"/>
        <c:lblAlgn val="ctr"/>
        <c:lblOffset val="100"/>
        <c:noMultiLvlLbl val="0"/>
      </c:catAx>
      <c:valAx>
        <c:axId val="11933825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55412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Tabelle1!$A$2:$A$5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1250000</c:v>
                </c:pt>
                <c:pt idx="1">
                  <c:v>2400000</c:v>
                </c:pt>
                <c:pt idx="2">
                  <c:v>3100000</c:v>
                </c:pt>
                <c:pt idx="3">
                  <c:v>4750000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0EC-435C-BB41-A4B49D094CC9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Costs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numRef>
              <c:f>Tabelle1!$A$2:$A$5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900000</c:v>
                </c:pt>
                <c:pt idx="1">
                  <c:v>1700000</c:v>
                </c:pt>
                <c:pt idx="2">
                  <c:v>2600000</c:v>
                </c:pt>
                <c:pt idx="3">
                  <c:v>3200000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0EC-435C-BB41-A4B49D094CC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987030751"/>
        <c:axId val="1193437296"/>
      </c:barChart>
      <c:catAx>
        <c:axId val="19870307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93437296"/>
        <c:crosses val="autoZero"/>
        <c:auto val="1"/>
        <c:lblAlgn val="ctr"/>
        <c:lblOffset val="100"/>
        <c:noMultiLvlLbl val="0"/>
      </c:catAx>
      <c:valAx>
        <c:axId val="11934372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987030751"/>
        <c:crosses val="autoZero"/>
        <c:crossBetween val="between"/>
        <c:dispUnits>
          <c:builtInUnit val="millions"/>
          <c:dispUnitsLbl>
            <c:spPr>
              <a:noFill/>
              <a:ln>
                <a:noFill/>
              </a:ln>
              <a:effectLst/>
            </c:spPr>
            <c:txPr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</c:dispUnitsLbl>
        </c:dispUnits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Sales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Tabelle1!$A$2:$A$13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Tabelle1!$B$2:$B$13</c:f>
              <c:numCache>
                <c:formatCode>General</c:formatCode>
                <c:ptCount val="12"/>
                <c:pt idx="0">
                  <c:v>3</c:v>
                </c:pt>
                <c:pt idx="1">
                  <c:v>4</c:v>
                </c:pt>
                <c:pt idx="2">
                  <c:v>4.5</c:v>
                </c:pt>
                <c:pt idx="3">
                  <c:v>5</c:v>
                </c:pt>
                <c:pt idx="4">
                  <c:v>6</c:v>
                </c:pt>
                <c:pt idx="5">
                  <c:v>5.5</c:v>
                </c:pt>
                <c:pt idx="6">
                  <c:v>7</c:v>
                </c:pt>
                <c:pt idx="7">
                  <c:v>8</c:v>
                </c:pt>
                <c:pt idx="8">
                  <c:v>7.5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BD0-4FF6-95FA-CDA1D93BCF4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9323520"/>
        <c:axId val="1193483856"/>
      </c:lineChart>
      <c:catAx>
        <c:axId val="493235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93483856"/>
        <c:crosses val="autoZero"/>
        <c:auto val="1"/>
        <c:lblAlgn val="ctr"/>
        <c:lblOffset val="400"/>
        <c:tickLblSkip val="3"/>
        <c:tickMarkSkip val="2"/>
        <c:noMultiLvlLbl val="0"/>
      </c:catAx>
      <c:valAx>
        <c:axId val="11934838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49323520"/>
        <c:crosses val="autoZero"/>
        <c:crossBetween val="between"/>
        <c:dispUnits>
          <c:builtInUnit val="tenThousands"/>
          <c:dispUnitsLbl>
            <c:spPr>
              <a:noFill/>
              <a:ln>
                <a:noFill/>
              </a:ln>
              <a:effectLst/>
            </c:spPr>
            <c:txPr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</c:dispUnitsLbl>
        </c:dispUnits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Orders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Tabelle1!$A$2:$A$7</c:f>
              <c:numCache>
                <c:formatCode>General</c:formatCode>
                <c:ptCount val="6"/>
                <c:pt idx="0">
                  <c:v>44927</c:v>
                </c:pt>
                <c:pt idx="1">
                  <c:v>44958</c:v>
                </c:pt>
                <c:pt idx="2">
                  <c:v>44986</c:v>
                </c:pt>
                <c:pt idx="3">
                  <c:v>45017</c:v>
                </c:pt>
                <c:pt idx="4">
                  <c:v>45047</c:v>
                </c:pt>
                <c:pt idx="5">
                  <c:v>45078</c:v>
                </c:pt>
              </c:numCache>
            </c:numRef>
          </c:cat>
          <c:val>
            <c:numRef>
              <c:f>Tabelle1!$B$2:$B$7</c:f>
              <c:numCache>
                <c:formatCode>General</c:formatCode>
                <c:ptCount val="6"/>
                <c:pt idx="0">
                  <c:v>20</c:v>
                </c:pt>
                <c:pt idx="1">
                  <c:v>26</c:v>
                </c:pt>
                <c:pt idx="2">
                  <c:v>23</c:v>
                </c:pt>
                <c:pt idx="3">
                  <c:v>31</c:v>
                </c:pt>
                <c:pt idx="4">
                  <c:v>35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EF6-4809-856B-8EA1D231904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9307744"/>
        <c:axId val="1193478576"/>
      </c:barChart>
      <c:dateAx>
        <c:axId val="49307744"/>
        <c:scaling>
          <c:orientation val="minMax"/>
        </c:scaling>
        <c:delete val="0"/>
        <c:axPos val="b"/>
        <c:numFmt formatCode="mmm\ yy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93478576"/>
        <c:crosses val="autoZero"/>
        <c:auto val="0"/>
        <c:lblOffset val="100"/>
        <c:baseTimeUnit val="months"/>
      </c:dateAx>
      <c:valAx>
        <c:axId val="11934785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493077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ofPieChart>
        <c:ofPieType val="pie"/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6"/>
            <c:bubble3D val="0"/>
            <c:spPr>
              <a:solidFill>
                <a:schemeClr val="accent1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</c:dPt>
          <c:cat>
            <c:strRef>
              <c:f>Tabelle1!$A$2:$A$7</c:f>
              <c:strCache>
                <c:ptCount val="6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  <c:pt idx="4">
                  <c:v>Other A</c:v>
                </c:pt>
                <c:pt idx="5">
                  <c:v>Other B</c:v>
                </c:pt>
              </c:strCache>
            </c:strRef>
          </c:cat>
          <c:val>
            <c:numRef>
              <c:f>Tabelle1!$B$2:$B$7</c:f>
              <c:numCache>
                <c:formatCode>General</c:formatCode>
                <c:ptCount val="6"/>
                <c:pt idx="0">
                  <c:v>35</c:v>
                </c:pt>
                <c:pt idx="1">
                  <c:v>25</c:v>
                </c:pt>
                <c:pt idx="2">
                  <c:v>20</c:v>
                </c:pt>
                <c:pt idx="3">
                  <c:v>10</c:v>
                </c:pt>
                <c:pt idx="4">
                  <c:v>6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7F0-4FCA-A3FF-97B46DA8232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gapWidth val="100"/>
        <c:secondPieSize val="75"/>
        <c:serLines>
          <c:spPr>
            <a:ln w="9525" cap="flat" cmpd="sng" algn="ctr">
              <a:solidFill>
                <a:schemeClr val="tx1">
                  <a:lumMod val="35000"/>
                  <a:lumOff val="65000"/>
                </a:schemeClr>
              </a:solidFill>
              <a:round/>
            </a:ln>
            <a:effectLst/>
          </c:spPr>
        </c:serLines>
      </c:of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ofPieChart>
        <c:ofPieType val="bar"/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6"/>
            <c:bubble3D val="0"/>
            <c:spPr>
              <a:solidFill>
                <a:schemeClr val="accent1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</c:dPt>
          <c:cat>
            <c:strRef>
              <c:f>Tabelle1!$A$2:$A$7</c:f>
              <c:strCache>
                <c:ptCount val="6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  <c:pt idx="4">
                  <c:v>Other A</c:v>
                </c:pt>
                <c:pt idx="5">
                  <c:v>Other B</c:v>
                </c:pt>
              </c:strCache>
            </c:strRef>
          </c:cat>
          <c:val>
            <c:numRef>
              <c:f>Tabelle1!$B$2:$B$7</c:f>
              <c:numCache>
                <c:formatCode>General</c:formatCode>
                <c:ptCount val="6"/>
                <c:pt idx="0">
                  <c:v>35</c:v>
                </c:pt>
                <c:pt idx="1">
                  <c:v>25</c:v>
                </c:pt>
                <c:pt idx="2">
                  <c:v>20</c:v>
                </c:pt>
                <c:pt idx="3">
                  <c:v>10</c:v>
                </c:pt>
                <c:pt idx="4">
                  <c:v>6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D23-4B0E-9467-BFB82660AA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gapWidth val="100"/>
        <c:splitType val="pos"/>
        <c:splitPos val="3"/>
        <c:secondPieSize val="60"/>
        <c:serLines>
          <c:spPr>
            <a:ln w="9525" cap="flat" cmpd="sng" algn="ctr">
              <a:solidFill>
                <a:schemeClr val="tx1">
                  <a:lumMod val="35000"/>
                  <a:lumOff val="65000"/>
                </a:schemeClr>
              </a:solidFill>
              <a:round/>
            </a:ln>
            <a:effectLst/>
          </c:spPr>
        </c:serLines>
      </c:of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Parts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BAE-440B-B6E0-77F1BD464184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6BAE-440B-B6E0-77F1BD464184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BAE-440B-B6E0-77F1BD464184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</c:dPt>
          <c:dLbls>
            <c:dLbl>
              <c:idx val="0"/>
              <c:layout>
                <c:manualLayout>
                  <c:x val="6.5217391304347672E-2"/>
                  <c:y val="-4.878048780487805E-2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BAE-440B-B6E0-77F1BD464184}"/>
                </c:ext>
              </c:extLst>
            </c:dLbl>
            <c:dLbl>
              <c:idx val="1"/>
              <c:layout>
                <c:manualLayout>
                  <c:x val="6.5217391304347824E-2"/>
                  <c:y val="-4.878048780487805E-2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6BAE-440B-B6E0-77F1BD464184}"/>
                </c:ext>
              </c:extLst>
            </c:dLbl>
            <c:dLbl>
              <c:idx val="2"/>
              <c:layout>
                <c:manualLayout>
                  <c:x val="6.5217391304347824E-2"/>
                  <c:y val="-4.8780487804878141E-2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BAE-440B-B6E0-77F1BD464184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dLblPos val="outEnd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Tabelle1!$A$2:$A$7</c:f>
              <c:strCache>
                <c:ptCount val="6"/>
                <c:pt idx="0">
                  <c:v>One</c:v>
                </c:pt>
                <c:pt idx="1">
                  <c:v>Two</c:v>
                </c:pt>
                <c:pt idx="2">
                  <c:v>Three</c:v>
                </c:pt>
                <c:pt idx="3">
                  <c:v>Four</c:v>
                </c:pt>
                <c:pt idx="4">
                  <c:v>Five</c:v>
                </c:pt>
                <c:pt idx="5">
                  <c:v>Six</c:v>
                </c:pt>
              </c:strCache>
            </c:strRef>
          </c:cat>
          <c:val>
            <c:numRef>
              <c:f>Tabelle1!$B$2:$B$7</c:f>
              <c:numCache>
                <c:formatCode>General</c:formatCode>
                <c:ptCount val="6"/>
                <c:pt idx="0">
                  <c:v>40</c:v>
                </c:pt>
                <c:pt idx="1">
                  <c:v>25</c:v>
                </c:pt>
                <c:pt idx="2">
                  <c:v>15</c:v>
                </c:pt>
                <c:pt idx="3">
                  <c:v>10</c:v>
                </c:pt>
                <c:pt idx="4">
                  <c:v>6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BAE-440B-B6E0-77F1BD46418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1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DE-4DEF-84CC-ABF7B6A94DDD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Datenreihe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de-DE"/>
                      <a:t>Own text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21DE-4DEF-84CC-ABF7B6A94DD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1DE-4DEF-84CC-ABF7B6A94DDD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Datenreihe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1DE-4DEF-84CC-ABF7B6A94DD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7288768"/>
        <c:axId val="1193316816"/>
      </c:barChart>
      <c:catAx>
        <c:axId val="728876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93316816"/>
        <c:crosses val="autoZero"/>
        <c:auto val="1"/>
        <c:lblAlgn val="ctr"/>
        <c:lblOffset val="100"/>
        <c:noMultiLvlLbl val="0"/>
      </c:catAx>
      <c:valAx>
        <c:axId val="119331681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72887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815-4B43-AE13-B0677E3EDC61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Datenreihe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815-4B43-AE13-B0677E3EDC61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Datenreihe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815-4B43-AE13-B0677E3EDC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922928"/>
        <c:axId val="1193309616"/>
      </c:barChart>
      <c:catAx>
        <c:axId val="99229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93309616"/>
        <c:crosses val="autoZero"/>
        <c:auto val="1"/>
        <c:lblAlgn val="ctr"/>
        <c:lblOffset val="100"/>
        <c:noMultiLvlLbl val="0"/>
      </c:catAx>
      <c:valAx>
        <c:axId val="11933096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99229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rgbClr val="F2F2F2"/>
    </a:solidFill>
    <a:ln w="38100">
      <a:solidFill>
        <a:srgbClr val="C00000"/>
      </a:solidFill>
    </a:ln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3"/>
          <c:y val="0.2"/>
          <c:w val="0.5"/>
          <c:h val="0.4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DF9-40CF-9FBA-1BFC5126B945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Datenreihe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DF9-40CF-9FBA-1BFC5126B945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Datenreihe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DF9-40CF-9FBA-1BFC5126B94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931744"/>
        <c:axId val="1193318256"/>
      </c:barChart>
      <c:catAx>
        <c:axId val="99317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93318256"/>
        <c:crosses val="autoZero"/>
        <c:auto val="1"/>
        <c:lblAlgn val="ctr"/>
        <c:lblOffset val="100"/>
        <c:noMultiLvlLbl val="0"/>
      </c:catAx>
      <c:valAx>
        <c:axId val="11933182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99317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ubbleChart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Y-Werte</c:v>
                </c:pt>
              </c:strCache>
            </c:strRef>
          </c:tx>
          <c:spPr>
            <a:solidFill>
              <a:schemeClr val="accent1">
                <a:alpha val="7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0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Tabelle1!$A$2:$A$4</c:f>
              <c:numCache>
                <c:formatCode>General</c:formatCode>
                <c:ptCount val="3"/>
                <c:pt idx="0">
                  <c:v>0.7</c:v>
                </c:pt>
                <c:pt idx="1">
                  <c:v>1.8</c:v>
                </c:pt>
                <c:pt idx="2">
                  <c:v>2.6</c:v>
                </c:pt>
              </c:numCache>
            </c:numRef>
          </c:xVal>
          <c:yVal>
            <c:numRef>
              <c:f>Tabelle1!$B$2:$B$4</c:f>
              <c:numCache>
                <c:formatCode>General</c:formatCode>
                <c:ptCount val="3"/>
                <c:pt idx="0">
                  <c:v>2.7</c:v>
                </c:pt>
                <c:pt idx="1">
                  <c:v>3.2</c:v>
                </c:pt>
                <c:pt idx="2">
                  <c:v>0.8</c:v>
                </c:pt>
              </c:numCache>
            </c:numRef>
          </c:yVal>
          <c:bubbleSize>
            <c:numRef>
              <c:f>Tabelle1!$C$2:$C$4</c:f>
              <c:numCache>
                <c:formatCode>General</c:formatCode>
                <c:ptCount val="3"/>
                <c:pt idx="0">
                  <c:v>10</c:v>
                </c:pt>
                <c:pt idx="1">
                  <c:v>4</c:v>
                </c:pt>
                <c:pt idx="2">
                  <c:v>8</c:v>
                </c:pt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00-FD6D-4A63-B7B5-FD4369761B7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7285984"/>
        <c:axId val="1193317776"/>
      </c:bubbleChart>
      <c:valAx>
        <c:axId val="728598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93317776"/>
        <c:crosses val="autoZero"/>
        <c:crossBetween val="midCat"/>
      </c:valAx>
      <c:valAx>
        <c:axId val="1193317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728598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33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50000"/>
            <a:lumOff val="50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915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33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50000"/>
            <a:lumOff val="50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915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6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>
          <a:alpha val="75000"/>
        </a:schemeClr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>
          <a:alpha val="75000"/>
        </a:schemeClr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>
            <a:alpha val="50000"/>
          </a:schemeClr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19AFC3-E2A8-0DB5-FA14-964B6BD916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1846205-EA0C-5F50-859D-C74B12E690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DA5AE3A-74CE-22FD-E5BA-EAAF42A3D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62047-E2C8-4734-A689-668B36BC6A1D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38389DF-8F8B-F67A-4E2E-0FBA7C6C2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0B13E69-EB74-15BE-C901-50856BA54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935EF-6752-464A-9B81-BA8CABB610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94947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FB3DD5-27B6-8F7E-68A9-637A29479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D158EB9-F8FF-D110-14AB-3C052A020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140605A-56DD-BFF6-4334-653E0EDA3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62047-E2C8-4734-A689-668B36BC6A1D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FC32648-F6AA-F1C2-99A2-218274DDF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0EFE42B-2473-9A30-2702-4DF340EE2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935EF-6752-464A-9B81-BA8CABB610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6050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48A74A-664C-4C2C-D379-5C858A3B25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7C2EF23-F764-395D-3CFD-067C5959ED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88DA0E3-530D-1FE4-0EDF-C98C6AA3E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62047-E2C8-4734-A689-668B36BC6A1D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34E895F-102F-88CC-0D58-64E8AB55B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31EB99E-A574-C128-D371-7EE6CE5E7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935EF-6752-464A-9B81-BA8CABB610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8514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1E92D4-B7F2-72BC-B05B-F6BAFA631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FBE7488-6420-F35D-0C79-FA4A43351B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08D87BB-9096-D5C7-3D69-61A7FAE260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D92772D-6ABC-0E35-9415-D8C972A34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62047-E2C8-4734-A689-668B36BC6A1D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679E43D-3355-3D46-A3D4-099A5DF83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5CD6765-E1CA-00F0-65D7-4567100FF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935EF-6752-464A-9B81-BA8CABB610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57033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AEEBCF-22B6-3F98-49F5-B9F2DDB8E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5F20308-E00A-7CAD-AC4D-CE341DABCC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091D037-9438-722B-9293-9ADE566ACF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A259019-FB91-8673-0A6B-8F7EAA3899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7535323-9854-90E8-BFF9-0AC471B1A1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E3BF176-98A9-141F-6BAB-A109C3C63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62047-E2C8-4734-A689-668B36BC6A1D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45AE3F5-3FEB-498F-2F35-BF711F86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D456F18-35F1-5141-B2C7-101CE2210F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935EF-6752-464A-9B81-BA8CABB610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86529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D36973-E164-7F2F-ADE1-74B16AAC3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749C6C8-1B0E-7363-2D9E-AC01F7913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62047-E2C8-4734-A689-668B36BC6A1D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6B94F9A-7AC6-02E3-C999-C2446E8F6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7B18CDE-6776-F703-01D8-B5CE5256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935EF-6752-464A-9B81-BA8CABB610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783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58E9554-FA0B-F30E-7A88-E7B924E35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62047-E2C8-4734-A689-668B36BC6A1D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F52906A-5827-DA11-1C5B-D48FAF9FF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9DC859-2261-56C1-6BC7-8A8A748F9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935EF-6752-464A-9B81-BA8CABB610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775886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08A7BC-173E-1950-4483-C7EB83B61D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9C968DD-E16F-5781-2591-D0C44BE24C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B094689-8E08-F31B-1118-170B9C7F44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B0FD140-7B5F-380D-B51A-4DE60F181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62047-E2C8-4734-A689-668B36BC6A1D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F92BBD0-2657-2EB2-0A74-4F49C69EC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3C5E45C-8966-BA9E-BE27-097E6D3BC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935EF-6752-464A-9B81-BA8CABB610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8074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CD96D7-1832-F3B8-9842-C2AB2F369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065477DC-3A8F-4FA1-2657-57EBDE61CD4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4E94A0F-249A-4F8B-2A13-58551DA636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897B951-D8FE-0CC1-9BE2-5B2364167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62047-E2C8-4734-A689-668B36BC6A1D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598447C-5F4F-4037-8549-1DB1952A2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6CAED72-85B7-E6AD-2B12-A1DFF0A3B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935EF-6752-464A-9B81-BA8CABB610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76440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849DA7-7AED-0292-B6D9-40887B4DD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9AFBBA2-E78A-ACF3-95CF-DD21CD9A5B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03AA1D4-2CCE-57D2-34F6-D5FC6F1499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62047-E2C8-4734-A689-668B36BC6A1D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3CA4FBF-7890-AEBE-8904-11F0CDF1D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6AB75F-77AB-FAB0-6AB7-06FA29349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935EF-6752-464A-9B81-BA8CABB610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45717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1B5C6B4-CEB1-973A-B66F-DDF332725F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3A9F277-C525-C6A8-1F77-74D63B3640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408698F-AA60-FF9D-F9CA-419A9A4363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62047-E2C8-4734-A689-668B36BC6A1D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BD0E1D-B72E-A129-CA21-69F1DBD629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88DD645-A71D-6926-E961-E7C2D7D31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935EF-6752-464A-9B81-BA8CABB610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93959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8AF5C9E-86AA-08EC-FAA7-CC4932ED96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5EAB3AB-9B8B-780F-02EB-845E2095AC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6F16CA4-79D3-C070-004C-B4263D2E52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962047-E2C8-4734-A689-668B36BC6A1D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E85DF77-F128-4654-BFE8-DEABCE8323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C936764-7B3D-A5D8-779A-73F3E7A778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7935EF-6752-464A-9B81-BA8CABB6107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46062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6.xml"/><Relationship Id="rId4" Type="http://schemas.openxmlformats.org/officeDocument/2006/relationships/chart" Target="../charts/char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EAACA3-EA18-3ACE-25AC-E907D2762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Negative bars and display units</a:t>
            </a:r>
            <a:endParaRPr lang="de-DE"/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3C01D9CD-217A-BF19-0576-56876BED397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82428717"/>
              </p:ext>
            </p:extLst>
          </p:nvPr>
        </p:nvGraphicFramePr>
        <p:xfrm>
          <a:off x="254000" y="1397000"/>
          <a:ext cx="5842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004CD60A-EE22-DC67-2238-21BD621425C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3811935"/>
              </p:ext>
            </p:extLst>
          </p:nvPr>
        </p:nvGraphicFramePr>
        <p:xfrm>
          <a:off x="6223000" y="1397000"/>
          <a:ext cx="5842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5741159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B283F3-AAE8-6F9F-3294-65661F15F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Label intervals, offsets and a date axis</a:t>
            </a:r>
            <a:endParaRPr lang="de-DE"/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AA9C8BB1-BC88-4A6B-7042-5392F19B64B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0767115"/>
              </p:ext>
            </p:extLst>
          </p:nvPr>
        </p:nvGraphicFramePr>
        <p:xfrm>
          <a:off x="254000" y="1397000"/>
          <a:ext cx="5842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6DCDB0FD-B923-D61B-B587-5E08AECC82F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0681988"/>
              </p:ext>
            </p:extLst>
          </p:nvPr>
        </p:nvGraphicFramePr>
        <p:xfrm>
          <a:off x="6223000" y="1397000"/>
          <a:ext cx="5842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8095313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EF85DC-365B-8C08-DF61-5F2A0C62A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Pie of pie and bar of pie</a:t>
            </a:r>
            <a:endParaRPr lang="de-DE"/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EF7938AA-373C-4FDC-20F0-03B14C0E1B6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5480100"/>
              </p:ext>
            </p:extLst>
          </p:nvPr>
        </p:nvGraphicFramePr>
        <p:xfrm>
          <a:off x="254000" y="1397000"/>
          <a:ext cx="5842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16BE79A1-D4CD-2A81-165B-E9C78AEF96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10986942"/>
              </p:ext>
            </p:extLst>
          </p:nvPr>
        </p:nvGraphicFramePr>
        <p:xfrm>
          <a:off x="6223000" y="1397000"/>
          <a:ext cx="5842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9119034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29FBC4-6C87-A850-5505-08939A71C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Leader lines and legend keys</a:t>
            </a:r>
            <a:endParaRPr lang="de-DE"/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29DD8E1E-9EE9-47DA-54CA-EB348088445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72251118"/>
              </p:ext>
            </p:extLst>
          </p:nvPr>
        </p:nvGraphicFramePr>
        <p:xfrm>
          <a:off x="254000" y="1397000"/>
          <a:ext cx="5842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8B5A2F1B-4046-67F1-4BD6-AEB895ACD73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5409089"/>
              </p:ext>
            </p:extLst>
          </p:nvPr>
        </p:nvGraphicFramePr>
        <p:xfrm>
          <a:off x="6223000" y="1397000"/>
          <a:ext cx="5842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256778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0BF6E0-8AD4-83B2-BFCE-B8A406137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Rounded corners, layouts and bubble sizes</a:t>
            </a:r>
            <a:endParaRPr lang="de-DE"/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B515185C-EB13-37E4-6198-5B855113527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49793868"/>
              </p:ext>
            </p:extLst>
          </p:nvPr>
        </p:nvGraphicFramePr>
        <p:xfrm>
          <a:off x="254000" y="1397000"/>
          <a:ext cx="3810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E6B5FB2D-438F-541C-CB69-BC963D53560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9046853"/>
              </p:ext>
            </p:extLst>
          </p:nvPr>
        </p:nvGraphicFramePr>
        <p:xfrm>
          <a:off x="4191000" y="1397000"/>
          <a:ext cx="3810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Diagramm 4">
            <a:extLst>
              <a:ext uri="{FF2B5EF4-FFF2-40B4-BE49-F238E27FC236}">
                <a16:creationId xmlns:a16="http://schemas.microsoft.com/office/drawing/2014/main" id="{04CCB4E4-9096-93DE-2539-B80D7DE722A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83615134"/>
              </p:ext>
            </p:extLst>
          </p:nvPr>
        </p:nvGraphicFramePr>
        <p:xfrm>
          <a:off x="8128000" y="1397000"/>
          <a:ext cx="3810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9710564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</Words>
  <Application>Microsoft Office PowerPoint</Application>
  <PresentationFormat>Benutzerdefiniert</PresentationFormat>
  <Paragraphs>10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</vt:lpstr>
      <vt:lpstr>Negative bars and display units</vt:lpstr>
      <vt:lpstr>Label intervals, offsets and a date axis</vt:lpstr>
      <vt:lpstr>Pie of pie and bar of pie</vt:lpstr>
      <vt:lpstr>Leader lines and legend keys</vt:lpstr>
      <vt:lpstr>Rounded corners, layouts and bubble sizes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2026-10-09T00:52:15Z</dcterms:created>
  <dcterms:modified xsi:type="dcterms:W3CDTF">2026-10-09T00:52:15Z</dcterms:modified>
</cp:coreProperties>
</file>