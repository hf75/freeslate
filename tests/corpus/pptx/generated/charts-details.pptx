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" d="100"/>
          <a:sy n="14" d="100"/>
        </p:scale>
        <p:origin x="426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Result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1"/>
          <c:cat>
            <c:strRef>
              <c:f>Tabelle1!$A$2:$A$6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Tabelle1!$B$2:$B$6</c:f>
              <c:numCache>
                <c:formatCode>General</c:formatCode>
                <c:ptCount val="5"/>
                <c:pt idx="0">
                  <c:v>12</c:v>
                </c:pt>
                <c:pt idx="1">
                  <c:v>-7</c:v>
                </c:pt>
                <c:pt idx="2">
                  <c:v>5</c:v>
                </c:pt>
                <c:pt idx="3">
                  <c:v>-11</c:v>
                </c:pt>
                <c:pt idx="4">
                  <c:v>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  <a:effectLst/>
                </c14:spPr>
              </c14:invertSolidFillFmt>
            </c:ext>
            <c:ext xmlns:c16="http://schemas.microsoft.com/office/drawing/2014/chart" uri="{C3380CC4-5D6E-409C-BE32-E72D297353CC}">
              <c16:uniqueId val="{00000000-BD11-45C6-8358-6F666B084A8E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Plan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1"/>
          <c:cat>
            <c:strRef>
              <c:f>Tabelle1!$A$2:$A$6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Tabelle1!$C$2:$C$6</c:f>
              <c:numCache>
                <c:formatCode>General</c:formatCode>
                <c:ptCount val="5"/>
                <c:pt idx="0">
                  <c:v>-4</c:v>
                </c:pt>
                <c:pt idx="1">
                  <c:v>6</c:v>
                </c:pt>
                <c:pt idx="2">
                  <c:v>-9</c:v>
                </c:pt>
                <c:pt idx="3">
                  <c:v>3</c:v>
                </c:pt>
                <c:pt idx="4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D11-45C6-8358-6F666B084A8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91169120"/>
        <c:axId val="253415760"/>
      </c:barChart>
      <c:catAx>
        <c:axId val="15911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53415760"/>
        <c:crosses val="autoZero"/>
        <c:auto val="1"/>
        <c:lblAlgn val="ctr"/>
        <c:lblOffset val="100"/>
        <c:noMultiLvlLbl val="0"/>
      </c:catAx>
      <c:valAx>
        <c:axId val="253415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91169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Tabelle1!$A$2:$A$5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1250000</c:v>
                </c:pt>
                <c:pt idx="1">
                  <c:v>2400000</c:v>
                </c:pt>
                <c:pt idx="2">
                  <c:v>3100000</c:v>
                </c:pt>
                <c:pt idx="3">
                  <c:v>4750000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E06-49DC-BF5E-147DD96DA6F2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Costs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Tabelle1!$A$2:$A$5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900000</c:v>
                </c:pt>
                <c:pt idx="1">
                  <c:v>1700000</c:v>
                </c:pt>
                <c:pt idx="2">
                  <c:v>2600000</c:v>
                </c:pt>
                <c:pt idx="3">
                  <c:v>3200000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E06-49DC-BF5E-147DD96DA6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93218848"/>
        <c:axId val="253437360"/>
      </c:barChart>
      <c:catAx>
        <c:axId val="15932188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53437360"/>
        <c:crosses val="autoZero"/>
        <c:auto val="1"/>
        <c:lblAlgn val="ctr"/>
        <c:lblOffset val="100"/>
        <c:noMultiLvlLbl val="0"/>
      </c:catAx>
      <c:valAx>
        <c:axId val="253437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93218848"/>
        <c:crosses val="autoZero"/>
        <c:crossBetween val="between"/>
        <c:dispUnits>
          <c:builtInUnit val="millions"/>
          <c:dispUnitsLbl>
            <c:spPr>
              <a:noFill/>
              <a:ln>
                <a:noFill/>
              </a:ln>
              <a:effectLst/>
            </c:spPr>
            <c:txPr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</c:dispUnitsLbl>
        </c:dispUnits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Sales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Tabelle1!$A$2:$A$13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Tabelle1!$B$2:$B$13</c:f>
              <c:numCache>
                <c:formatCode>General</c:formatCode>
                <c:ptCount val="12"/>
                <c:pt idx="0">
                  <c:v>3</c:v>
                </c:pt>
                <c:pt idx="1">
                  <c:v>4</c:v>
                </c:pt>
                <c:pt idx="2">
                  <c:v>4.5</c:v>
                </c:pt>
                <c:pt idx="3">
                  <c:v>5</c:v>
                </c:pt>
                <c:pt idx="4">
                  <c:v>6</c:v>
                </c:pt>
                <c:pt idx="5">
                  <c:v>5.5</c:v>
                </c:pt>
                <c:pt idx="6">
                  <c:v>7</c:v>
                </c:pt>
                <c:pt idx="7">
                  <c:v>8</c:v>
                </c:pt>
                <c:pt idx="8">
                  <c:v>7.5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888-42E8-8384-B6C1933A1A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93226272"/>
        <c:axId val="253452240"/>
      </c:lineChart>
      <c:catAx>
        <c:axId val="15932262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53452240"/>
        <c:crosses val="autoZero"/>
        <c:auto val="1"/>
        <c:lblAlgn val="ctr"/>
        <c:lblOffset val="400"/>
        <c:tickLblSkip val="3"/>
        <c:tickMarkSkip val="2"/>
        <c:noMultiLvlLbl val="0"/>
      </c:catAx>
      <c:valAx>
        <c:axId val="2534522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93226272"/>
        <c:crosses val="autoZero"/>
        <c:crossBetween val="between"/>
        <c:dispUnits>
          <c:builtInUnit val="tenThousands"/>
          <c:dispUnitsLbl>
            <c:spPr>
              <a:noFill/>
              <a:ln>
                <a:noFill/>
              </a:ln>
              <a:effectLst/>
            </c:spPr>
            <c:txPr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</c:dispUnitsLbl>
        </c:dispUnits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Orders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Tabelle1!$A$2:$A$7</c:f>
              <c:numCache>
                <c:formatCode>General</c:formatCode>
                <c:ptCount val="6"/>
                <c:pt idx="0">
                  <c:v>44927</c:v>
                </c:pt>
                <c:pt idx="1">
                  <c:v>44958</c:v>
                </c:pt>
                <c:pt idx="2">
                  <c:v>44986</c:v>
                </c:pt>
                <c:pt idx="3">
                  <c:v>45017</c:v>
                </c:pt>
                <c:pt idx="4">
                  <c:v>45047</c:v>
                </c:pt>
                <c:pt idx="5">
                  <c:v>45078</c:v>
                </c:pt>
              </c:numCache>
            </c:num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20</c:v>
                </c:pt>
                <c:pt idx="1">
                  <c:v>26</c:v>
                </c:pt>
                <c:pt idx="2">
                  <c:v>23</c:v>
                </c:pt>
                <c:pt idx="3">
                  <c:v>31</c:v>
                </c:pt>
                <c:pt idx="4">
                  <c:v>35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0C-4BEB-9B50-B91ED622C9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93224416"/>
        <c:axId val="253457040"/>
      </c:barChart>
      <c:dateAx>
        <c:axId val="1593224416"/>
        <c:scaling>
          <c:orientation val="minMax"/>
        </c:scaling>
        <c:delete val="0"/>
        <c:axPos val="b"/>
        <c:numFmt formatCode="mmm\ yy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53457040"/>
        <c:crosses val="autoZero"/>
        <c:auto val="0"/>
        <c:lblOffset val="100"/>
        <c:baseTimeUnit val="months"/>
      </c:dateAx>
      <c:valAx>
        <c:axId val="2534570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932244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ofPieChart>
        <c:ofPieType val="pie"/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cat>
            <c:strRef>
              <c:f>Tabelle1!$A$2:$A$7</c:f>
              <c:strCache>
                <c:ptCount val="6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  <c:pt idx="4">
                  <c:v>Other A</c:v>
                </c:pt>
                <c:pt idx="5">
                  <c:v>Other B</c:v>
                </c:pt>
              </c:strCache>
            </c:str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10</c:v>
                </c:pt>
                <c:pt idx="4">
                  <c:v>6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E0-4296-A13C-5C43C11D61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gapWidth val="100"/>
        <c:secondPieSize val="75"/>
        <c:serLines>
          <c:spPr>
            <a:ln w="9525" cap="flat" cmpd="sng" algn="ctr">
              <a:solidFill>
                <a:schemeClr val="tx1">
                  <a:lumMod val="35000"/>
                  <a:lumOff val="65000"/>
                </a:schemeClr>
              </a:solidFill>
              <a:round/>
            </a:ln>
            <a:effectLst/>
          </c:spPr>
        </c:serLines>
      </c:of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ofPieChart>
        <c:ofPieType val="bar"/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cat>
            <c:strRef>
              <c:f>Tabelle1!$A$2:$A$7</c:f>
              <c:strCache>
                <c:ptCount val="6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  <c:pt idx="4">
                  <c:v>Other A</c:v>
                </c:pt>
                <c:pt idx="5">
                  <c:v>Other B</c:v>
                </c:pt>
              </c:strCache>
            </c:str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10</c:v>
                </c:pt>
                <c:pt idx="4">
                  <c:v>6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BD-4D03-A956-C7AC882663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gapWidth val="100"/>
        <c:splitType val="pos"/>
        <c:splitPos val="3"/>
        <c:secondPieSize val="60"/>
        <c:serLines>
          <c:spPr>
            <a:ln w="9525" cap="flat" cmpd="sng" algn="ctr">
              <a:solidFill>
                <a:schemeClr val="tx1">
                  <a:lumMod val="35000"/>
                  <a:lumOff val="65000"/>
                </a:schemeClr>
              </a:solidFill>
              <a:round/>
            </a:ln>
            <a:effectLst/>
          </c:spPr>
        </c:serLines>
      </c:of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Parts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38B-4B80-AA7C-FE7844F8EC05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638B-4B80-AA7C-FE7844F8EC0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38B-4B80-AA7C-FE7844F8EC05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dLbl>
              <c:idx val="0"/>
              <c:layout>
                <c:manualLayout>
                  <c:x val="6.5217391304347672E-2"/>
                  <c:y val="-4.878048780487805E-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38B-4B80-AA7C-FE7844F8EC05}"/>
                </c:ext>
              </c:extLst>
            </c:dLbl>
            <c:dLbl>
              <c:idx val="1"/>
              <c:layout>
                <c:manualLayout>
                  <c:x val="6.5217391304347824E-2"/>
                  <c:y val="-4.878048780487805E-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38B-4B80-AA7C-FE7844F8EC05}"/>
                </c:ext>
              </c:extLst>
            </c:dLbl>
            <c:dLbl>
              <c:idx val="2"/>
              <c:layout>
                <c:manualLayout>
                  <c:x val="6.5217391304347824E-2"/>
                  <c:y val="-4.8780487804878141E-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38B-4B80-AA7C-FE7844F8EC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outEnd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Tabelle1!$A$2:$A$7</c:f>
              <c:strCache>
                <c:ptCount val="6"/>
                <c:pt idx="0">
                  <c:v>One</c:v>
                </c:pt>
                <c:pt idx="1">
                  <c:v>Two</c:v>
                </c:pt>
                <c:pt idx="2">
                  <c:v>Three</c:v>
                </c:pt>
                <c:pt idx="3">
                  <c:v>Four</c:v>
                </c:pt>
                <c:pt idx="4">
                  <c:v>Five</c:v>
                </c:pt>
                <c:pt idx="5">
                  <c:v>Six</c:v>
                </c:pt>
              </c:strCache>
            </c:str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  <c:pt idx="4">
                  <c:v>6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8B-4B80-AA7C-FE7844F8EC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1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009-4620-9441-502F2FA6EBF7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de-DE"/>
                      <a:t>Own text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3009-4620-9441-502F2FA6EBF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009-4620-9441-502F2FA6EBF7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009-4620-9441-502F2FA6EB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680449584"/>
        <c:axId val="253570800"/>
      </c:barChart>
      <c:catAx>
        <c:axId val="168044958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53570800"/>
        <c:crosses val="autoZero"/>
        <c:auto val="1"/>
        <c:lblAlgn val="ctr"/>
        <c:lblOffset val="100"/>
        <c:noMultiLvlLbl val="0"/>
      </c:catAx>
      <c:valAx>
        <c:axId val="25357080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6804495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CA8-42AC-A775-EAEFEC50619B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CA8-42AC-A775-EAEFEC50619B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CA8-42AC-A775-EAEFEC5061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80437520"/>
        <c:axId val="253616880"/>
      </c:barChart>
      <c:catAx>
        <c:axId val="16804375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53616880"/>
        <c:crosses val="autoZero"/>
        <c:auto val="1"/>
        <c:lblAlgn val="ctr"/>
        <c:lblOffset val="100"/>
        <c:noMultiLvlLbl val="0"/>
      </c:catAx>
      <c:valAx>
        <c:axId val="2536168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6804375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rgbClr val="F2F2F2"/>
    </a:solidFill>
    <a:ln w="38100">
      <a:solidFill>
        <a:srgbClr val="C00000"/>
      </a:solidFill>
    </a:ln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3"/>
          <c:y val="0.2"/>
          <c:w val="0.5"/>
          <c:h val="0.4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A3-477C-9386-6AFC858F24B2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0A3-477C-9386-6AFC858F24B2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0A3-477C-9386-6AFC858F24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80444480"/>
        <c:axId val="253615440"/>
      </c:barChart>
      <c:catAx>
        <c:axId val="16804444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53615440"/>
        <c:crosses val="autoZero"/>
        <c:auto val="1"/>
        <c:lblAlgn val="ctr"/>
        <c:lblOffset val="100"/>
        <c:noMultiLvlLbl val="0"/>
      </c:catAx>
      <c:valAx>
        <c:axId val="253615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6804444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ubbleChart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Y-Werte</c:v>
                </c:pt>
              </c:strCache>
            </c:strRef>
          </c:tx>
          <c:spPr>
            <a:solidFill>
              <a:schemeClr val="accent1">
                <a:alpha val="7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0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Tabelle1!$A$2:$A$4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Tabelle1!$B$2:$B$4</c:f>
              <c:numCache>
                <c:formatCode>General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bubbleSize>
            <c:numRef>
              <c:f>Tabelle1!$C$2:$C$4</c:f>
              <c:numCache>
                <c:formatCode>General</c:formatCode>
                <c:ptCount val="3"/>
                <c:pt idx="0">
                  <c:v>10</c:v>
                </c:pt>
                <c:pt idx="1">
                  <c:v>4</c:v>
                </c:pt>
                <c:pt idx="2">
                  <c:v>8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0A42-4A81-8552-9EEF17DDD5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1595860896"/>
        <c:axId val="253641360"/>
      </c:bubbleChart>
      <c:valAx>
        <c:axId val="159586089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53641360"/>
        <c:crosses val="autoZero"/>
        <c:crossBetween val="midCat"/>
      </c:valAx>
      <c:valAx>
        <c:axId val="253641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9586089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1"/>
              <c:tx>
                <c:rich>
                  <a:bodyPr rot="0" spcFirstLastPara="1" vertOverflow="ellipsis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1197" b="0" i="1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de-DE" i="1"/>
                      <a:t>low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1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e-DE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CAB9-46FE-9C46-4EB4BE152DB1}"/>
                </c:ext>
              </c:extLst>
            </c:dLbl>
            <c:dLbl>
              <c:idx val="3"/>
              <c:tx>
                <c:rich>
                  <a:bodyPr rot="0" spcFirstLastPara="1" vertOverflow="ellipsis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1197" b="0" i="0" u="none" strike="noStrike" kern="1200" baseline="0">
                        <a:solidFill>
                          <a:srgbClr val="C00000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de-DE" sz="1600" b="1">
                        <a:solidFill>
                          <a:srgbClr val="C00000"/>
                        </a:solidFill>
                      </a:rPr>
                      <a:t>Peak</a:t>
                    </a:r>
                    <a:r>
                      <a:rPr lang="de-DE">
                        <a:solidFill>
                          <a:srgbClr val="C00000"/>
                        </a:solidFill>
                      </a:rPr>
                      <a:t> 4.5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rgbClr val="C0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e-DE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CAB9-46FE-9C46-4EB4BE152DB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AB9-46FE-9C46-4EB4BE152DB1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AB9-46FE-9C46-4EB4BE152DB1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AB9-46FE-9C46-4EB4BE152DB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95915152"/>
        <c:axId val="253673040"/>
      </c:barChart>
      <c:catAx>
        <c:axId val="1595915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53673040"/>
        <c:crosses val="autoZero"/>
        <c:auto val="1"/>
        <c:lblAlgn val="ctr"/>
        <c:lblOffset val="100"/>
        <c:noMultiLvlLbl val="0"/>
      </c:catAx>
      <c:valAx>
        <c:axId val="2536730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959151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6B2-4A75-86B2-AE195452C7BE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de-DE" sz="2000"/>
                      <a:t>Big</a:t>
                    </a:r>
                    <a:r>
                      <a:rPr lang="de-DE"/>
                      <a:t> and </a:t>
                    </a:r>
                    <a:r>
                      <a:rPr lang="de-DE" sz="800"/>
                      <a:t>small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06B2-4A75-86B2-AE195452C7B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6B2-4A75-86B2-AE195452C7BE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6B2-4A75-86B2-AE195452C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595873888"/>
        <c:axId val="253427280"/>
      </c:barChart>
      <c:catAx>
        <c:axId val="159587388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53427280"/>
        <c:crosses val="autoZero"/>
        <c:auto val="1"/>
        <c:lblAlgn val="ctr"/>
        <c:lblOffset val="100"/>
        <c:noMultiLvlLbl val="0"/>
      </c:catAx>
      <c:valAx>
        <c:axId val="25342728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958738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50000"/>
            <a:lumOff val="50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915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3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50000"/>
            <a:lumOff val="50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915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6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147FF4-306E-FC75-92AC-02BC048406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68C2A38-E704-84AC-A1AE-12491007E3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187CE13-761A-62A4-DF5F-FD360A00A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86A6-473C-463A-A28B-F44BBA9E808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5C1B696-0622-4ED8-D1CC-6909CECA6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AAB78EC-50AA-7596-C07A-A9B20509C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8D93C-8800-4654-AF56-A23C3A94C9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3259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879934-CFB5-66BB-59BB-BABD3CA1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C01319-F2C3-6015-A1E2-E3AC9A14B3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73F0D88-7264-998D-FD99-734251402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86A6-473C-463A-A28B-F44BBA9E808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C89D8AF-8206-3C5C-38EA-021D35A63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6A4579C-0E87-7E94-54B4-D62979384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8D93C-8800-4654-AF56-A23C3A94C9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5662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E1AD21-6370-FBA1-34BC-6FB02BA78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87CD4BD-BF1D-4C48-6D93-C50487AE6B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B2D9CD-DE7D-7766-0189-1F7E44CF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86A6-473C-463A-A28B-F44BBA9E808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BFC801-C06D-9B85-AD8E-C43AE8DA6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5FECEE1-9083-D968-C152-1B5530EE4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8D93C-8800-4654-AF56-A23C3A94C9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8313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C61F20-A2A9-968E-FDE0-6993500F4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857116-2322-B36A-1AFD-C3773E331C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CEBD752-B8E4-DA70-4BA5-E82DC2A1B3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5179EF8-D762-8866-40A7-1F789C6D6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86A6-473C-463A-A28B-F44BBA9E808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D1ECB8E-7C99-B9B4-1F5D-457974CC3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2C8EB91-BCDA-ABB3-9FA0-3BF2A7143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8D93C-8800-4654-AF56-A23C3A94C9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2940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C7C165-CD1E-A9D8-D432-A21F16924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6B42C27-3D6D-3FE1-EE24-595E191CBD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F24BE9E-7EDB-4CED-BDAE-1AC579F3A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B341587-E96F-3DA9-2B36-4FFB2D93BA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96F7553-94FB-08C6-3D90-4594B3486E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E6867E0-354B-A45D-494A-D10C5B02C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86A6-473C-463A-A28B-F44BBA9E808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EA2A456-A0F9-306A-C179-5CB15838C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B9CDCCB-E321-AE57-9071-75D94BF36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8D93C-8800-4654-AF56-A23C3A94C9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9437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1F4290-2D21-5FE2-7CA1-4A0122991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92BCC88-DF38-DB9D-864E-200B5735F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86A6-473C-463A-A28B-F44BBA9E808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79E114A-7760-971F-C480-B8A8EBE41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9A86963-DCCE-B9F5-BE7E-A5410B5E8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8D93C-8800-4654-AF56-A23C3A94C9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4733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7E38C7D-A881-0B32-F6BF-CA6C81336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86A6-473C-463A-A28B-F44BBA9E808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932C6E7-ABC7-B5A4-FDA8-823190778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5E04788-84AE-D25B-F338-BDC057627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8D93C-8800-4654-AF56-A23C3A94C9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9967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4345CF-EA38-674A-CF5E-4825E9121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A0DB2F-1125-ED5D-0B96-9C8B9DF5F3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A63ACE-9D94-FB60-9A4E-4D27C8B3D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D38DBBE-CA0C-2897-5E12-0841C3397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86A6-473C-463A-A28B-F44BBA9E808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2BF01A0-86F9-9BAF-ED6A-2951A2C8C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8B739D2-B2D5-BE06-960C-ED868F520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8D93C-8800-4654-AF56-A23C3A94C9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2657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7F41C-52A7-6356-E208-DE4C876ED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0669E1C-46A8-A76B-4672-6B0ACDC4A1C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4CB05D8-123D-7105-EC86-EA45A61815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FCCE7DA-CB60-5FBC-51ED-0CFEF146A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86A6-473C-463A-A28B-F44BBA9E808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73E541D-72F7-7B31-011C-DE8CD9383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647F94C-3D93-7D08-107C-811B85227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8D93C-8800-4654-AF56-A23C3A94C9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15818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DDD53F-AC46-4225-7BDD-C3AC26BC1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AA512B2-8140-1578-7340-2F7A9744AD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18E898-D77A-6534-C90D-883875DE2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86A6-473C-463A-A28B-F44BBA9E808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3BCEBA-F780-4414-A2EF-B4FCAC6C1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FE1C2ED-3F8F-D717-4D8D-3531AF286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8D93C-8800-4654-AF56-A23C3A94C9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74091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FFC901B-203E-B964-DD1D-85C1ED71E9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9AF76A9-D6C1-D0CA-C612-E1026E406D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8CA3E31-C049-0612-9E79-613CBE045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86A6-473C-463A-A28B-F44BBA9E808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FF15190-92B0-768F-170D-5AF93AA81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4F6A59F-EA15-1008-A32C-59141ED0A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8D93C-8800-4654-AF56-A23C3A94C9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5296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C9A2F4E-B953-ECC1-C92A-364C8D3BD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C51D95F-F74C-3673-D317-2299CE1C54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64BA83F-FD7A-EEA0-CCD2-591CB3F051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1E86A6-473C-463A-A28B-F44BBA9E808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B7E7DF5-8A11-16F5-4CD6-EC489E60F2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9E7FD84-D4F4-34B9-8FDF-888B80A151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48D93C-8800-4654-AF56-A23C3A94C9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9361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6C38D0-3BD5-D732-9179-6F1B68E12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Negative bars and display units</a:t>
            </a:r>
            <a:endParaRPr lang="de-DE"/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74F0637A-D22A-AE2B-77CD-7F9298D91F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50794000"/>
              </p:ext>
            </p:extLst>
          </p:nvPr>
        </p:nvGraphicFramePr>
        <p:xfrm>
          <a:off x="254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AA9C547F-CE3B-4D19-7719-76B6AE024F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059004"/>
              </p:ext>
            </p:extLst>
          </p:nvPr>
        </p:nvGraphicFramePr>
        <p:xfrm>
          <a:off x="6223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392365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2EC12C-06C7-95B5-8A71-75084928A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Label intervals, offsets and a date axis</a:t>
            </a:r>
            <a:endParaRPr lang="de-DE"/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66F8AB44-4E8C-D050-94B5-E9ED43D70C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95484943"/>
              </p:ext>
            </p:extLst>
          </p:nvPr>
        </p:nvGraphicFramePr>
        <p:xfrm>
          <a:off x="254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595F26E6-DD22-160B-F61F-C9D213869AE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5323902"/>
              </p:ext>
            </p:extLst>
          </p:nvPr>
        </p:nvGraphicFramePr>
        <p:xfrm>
          <a:off x="6223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183542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CA00E8-72EC-9903-5F63-0D2C4353A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Pie of pie and bar of pie</a:t>
            </a:r>
            <a:endParaRPr lang="de-DE"/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8DEE6D7A-9A77-92DD-8156-85CDFCE4E4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8319985"/>
              </p:ext>
            </p:extLst>
          </p:nvPr>
        </p:nvGraphicFramePr>
        <p:xfrm>
          <a:off x="254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09279FD6-5391-9AD4-C805-A36D210466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45602623"/>
              </p:ext>
            </p:extLst>
          </p:nvPr>
        </p:nvGraphicFramePr>
        <p:xfrm>
          <a:off x="6223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799714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DA9E73-6E7B-2965-119A-C236E9ED6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Leader lines and legend keys</a:t>
            </a:r>
            <a:endParaRPr lang="de-DE"/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8112CE60-1DC3-A8EA-949D-EEF8E2C77C1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09695993"/>
              </p:ext>
            </p:extLst>
          </p:nvPr>
        </p:nvGraphicFramePr>
        <p:xfrm>
          <a:off x="254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D2CEAE46-B2BD-E240-A838-027728F25FD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74393509"/>
              </p:ext>
            </p:extLst>
          </p:nvPr>
        </p:nvGraphicFramePr>
        <p:xfrm>
          <a:off x="6223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26830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4667A8-D134-A0E2-807E-555BE926B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Rounded corners, layouts and bubble sizes</a:t>
            </a:r>
            <a:endParaRPr lang="de-DE"/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326C0992-C59B-0D25-398C-4EA39B2186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74353754"/>
              </p:ext>
            </p:extLst>
          </p:nvPr>
        </p:nvGraphicFramePr>
        <p:xfrm>
          <a:off x="254000" y="1397000"/>
          <a:ext cx="3810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81EE61EA-825E-6DAD-0DCC-099F9A72B2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02662291"/>
              </p:ext>
            </p:extLst>
          </p:nvPr>
        </p:nvGraphicFramePr>
        <p:xfrm>
          <a:off x="4191000" y="1397000"/>
          <a:ext cx="3810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1798C69D-D17C-60E0-2ABE-AD151DECFE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8270170"/>
              </p:ext>
            </p:extLst>
          </p:nvPr>
        </p:nvGraphicFramePr>
        <p:xfrm>
          <a:off x="8128000" y="1397000"/>
          <a:ext cx="3810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318946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0A34C2-2826-40E4-2E8B-A817CE527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Formatted data label text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CD4E39BD-2656-9D6A-7178-17A16B3FD3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3384477"/>
              </p:ext>
            </p:extLst>
          </p:nvPr>
        </p:nvGraphicFramePr>
        <p:xfrm>
          <a:off x="254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322F7FFE-CFB9-7638-2040-493C4AE460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90308995"/>
              </p:ext>
            </p:extLst>
          </p:nvPr>
        </p:nvGraphicFramePr>
        <p:xfrm>
          <a:off x="6223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442615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</Words>
  <Application>Microsoft Office PowerPoint</Application>
  <PresentationFormat>Benutzerdefiniert</PresentationFormat>
  <Paragraphs>14</Paragraphs>
  <Slides>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</vt:lpstr>
      <vt:lpstr>Negative bars and display units</vt:lpstr>
      <vt:lpstr>Label intervals, offsets and a date axis</vt:lpstr>
      <vt:lpstr>Pie of pie and bar of pie</vt:lpstr>
      <vt:lpstr>Leader lines and legend keys</vt:lpstr>
      <vt:lpstr>Rounded corners, layouts and bubble sizes</vt:lpstr>
      <vt:lpstr>Formatted data label text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2026-10-09T10:16:15Z</dcterms:created>
  <dcterms:modified xsi:type="dcterms:W3CDTF">2026-10-09T10:16:15Z</dcterms:modified>
</cp:coreProperties>
</file>