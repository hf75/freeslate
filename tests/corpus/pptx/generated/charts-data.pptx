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" d="100"/>
          <a:sy n="14" d="100"/>
        </p:scale>
        <p:origin x="426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chartColorStyle" Target="colors10.xml"/><Relationship Id="rId1" Type="http://schemas.microsoft.com/office/2011/relationships/chartStyle" Target="style10.xml"/><Relationship Id="rId4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chartColorStyle" Target="colors11.xml"/><Relationship Id="rId1" Type="http://schemas.microsoft.com/office/2011/relationships/chartStyle" Target="style11.xml"/><Relationship Id="rId4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1/relationships/chartColorStyle" Target="colors12.xml"/><Relationship Id="rId1" Type="http://schemas.microsoft.com/office/2011/relationships/chartStyle" Target="style12.xml"/><Relationship Id="rId4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Values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Tabelle1!$A$2:$A$7</c:f>
              <c:strCache>
                <c:ptCount val="6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3">
                  <c:v>4</c:v>
                </c:pt>
                <c:pt idx="5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A7-410A-B2B5-A3B98B28EC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40603584"/>
        <c:axId val="636729839"/>
      </c:lineChart>
      <c:catAx>
        <c:axId val="7406035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729839"/>
        <c:crosses val="autoZero"/>
        <c:auto val="1"/>
        <c:lblAlgn val="ctr"/>
        <c:lblOffset val="100"/>
        <c:noMultiLvlLbl val="0"/>
      </c:catAx>
      <c:valAx>
        <c:axId val="6367298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406035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Values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Tabelle1!$A$2:$A$7</c:f>
              <c:strCache>
                <c:ptCount val="6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3">
                  <c:v>4</c:v>
                </c:pt>
                <c:pt idx="5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04-407C-8A0B-FAF3A3F6C8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45270335"/>
        <c:axId val="636752399"/>
      </c:lineChart>
      <c:catAx>
        <c:axId val="3452703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752399"/>
        <c:crosses val="autoZero"/>
        <c:auto val="1"/>
        <c:lblAlgn val="ctr"/>
        <c:lblOffset val="100"/>
        <c:noMultiLvlLbl val="0"/>
      </c:catAx>
      <c:valAx>
        <c:axId val="6367523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452703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Values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Tabelle1!$A$2:$A$7</c:f>
              <c:strCache>
                <c:ptCount val="6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3">
                  <c:v>4</c:v>
                </c:pt>
                <c:pt idx="5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F6F-4DB9-90FD-E1DD058CC1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64645503"/>
        <c:axId val="636557519"/>
      </c:lineChart>
      <c:catAx>
        <c:axId val="6646455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557519"/>
        <c:crosses val="autoZero"/>
        <c:auto val="1"/>
        <c:lblAlgn val="ctr"/>
        <c:lblOffset val="100"/>
        <c:noMultiLvlLbl val="0"/>
      </c:catAx>
      <c:valAx>
        <c:axId val="6365575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646455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West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66-4191-9638-96E4FD25218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3"/>
                <c:pt idx="0">
                  <c:v>North</c:v>
                </c:pt>
                <c:pt idx="1">
                  <c:v>East</c:v>
                </c:pt>
                <c:pt idx="2">
                  <c:v>West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3"/>
                <c:pt idx="0">
                  <c:v>5</c:v>
                </c:pt>
                <c:pt idx="1">
                  <c:v>6</c:v>
                </c:pt>
                <c:pt idx="2">
                  <c:v>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66-4191-9638-96E4FD2521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65706207"/>
        <c:axId val="636576239"/>
      </c:barChart>
      <c:catAx>
        <c:axId val="66570620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576239"/>
        <c:crosses val="autoZero"/>
        <c:auto val="1"/>
        <c:lblAlgn val="ctr"/>
        <c:lblOffset val="100"/>
        <c:noMultiLvlLbl val="0"/>
      </c:catAx>
      <c:valAx>
        <c:axId val="6365762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6570620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B6-48D5-B507-05D541A33917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B6-48D5-B507-05D541A33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0595232"/>
        <c:axId val="636619439"/>
        <c:extLst>
          <c:ext xmlns:c15="http://schemas.microsoft.com/office/drawing/2012/chart" uri="{02D57815-91ED-43cb-92C2-25804820EDAC}"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Tabelle1!$C$1</c15:sqref>
                        </c15:formulaRef>
                      </c:ext>
                    </c:extLst>
                    <c:strCache>
                      <c:ptCount val="1"/>
                      <c:pt idx="0">
                        <c:v>2024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Tabelle1!$A$2:$A$5</c15:sqref>
                        </c15:formulaRef>
                      </c:ext>
                    </c:extLst>
                    <c:strCache>
                      <c:ptCount val="4"/>
                      <c:pt idx="0">
                        <c:v>North</c:v>
                      </c:pt>
                      <c:pt idx="1">
                        <c:v>South</c:v>
                      </c:pt>
                      <c:pt idx="2">
                        <c:v>East</c:v>
                      </c:pt>
                      <c:pt idx="3">
                        <c:v>West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Tabelle1!$C$2:$C$5</c15:sqref>
                        </c15:formulaRef>
                      </c:ext>
                    </c:extLst>
                    <c:numCache>
                      <c:formatCode>General</c:formatCode>
                      <c:ptCount val="4"/>
                      <c:pt idx="0">
                        <c:v>5</c:v>
                      </c:pt>
                      <c:pt idx="1">
                        <c:v>7</c:v>
                      </c:pt>
                      <c:pt idx="2">
                        <c:v>6</c:v>
                      </c:pt>
                      <c:pt idx="3">
                        <c:v>8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1-09B6-48D5-B507-05D541A33917}"/>
                  </c:ext>
                </c:extLst>
              </c15:ser>
            </c15:filteredBarSeries>
          </c:ext>
        </c:extLst>
      </c:barChart>
      <c:catAx>
        <c:axId val="7405952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19439"/>
        <c:crosses val="autoZero"/>
        <c:auto val="1"/>
        <c:lblAlgn val="ctr"/>
        <c:lblOffset val="100"/>
        <c:noMultiLvlLbl val="0"/>
      </c:catAx>
      <c:valAx>
        <c:axId val="6366194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405952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Tabelle1!$C$1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Tabelle1!$A$2:$B$9</c:f>
              <c:multiLvlStrCache>
                <c:ptCount val="8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</c:v>
                  </c:pt>
                  <c:pt idx="5">
                    <c:v>Q2</c:v>
                  </c:pt>
                  <c:pt idx="6">
                    <c:v>Q3</c:v>
                  </c:pt>
                  <c:pt idx="7">
                    <c:v>Q4</c:v>
                  </c:pt>
                </c:lvl>
                <c:lvl>
                  <c:pt idx="0">
                    <c:v>2023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748-41CB-9993-54D72E47BB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0596624"/>
        <c:axId val="636659279"/>
      </c:barChart>
      <c:catAx>
        <c:axId val="740596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59279"/>
        <c:crosses val="autoZero"/>
        <c:auto val="1"/>
        <c:lblAlgn val="ctr"/>
        <c:lblOffset val="100"/>
        <c:noMultiLvlLbl val="0"/>
      </c:catAx>
      <c:valAx>
        <c:axId val="6366592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7405966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Tabelle1!$C$1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multiLvlStrRef>
              <c:f>Tabelle1!$A$2:$B$9</c:f>
              <c:multiLvlStrCache>
                <c:ptCount val="8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</c:v>
                  </c:pt>
                  <c:pt idx="5">
                    <c:v>Q2</c:v>
                  </c:pt>
                  <c:pt idx="6">
                    <c:v>Q3</c:v>
                  </c:pt>
                  <c:pt idx="7">
                    <c:v>Q4</c:v>
                  </c:pt>
                </c:lvl>
                <c:lvl>
                  <c:pt idx="0">
                    <c:v>2023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90-44F6-8713-463C7B3C85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8297519"/>
        <c:axId val="636650159"/>
      </c:barChart>
      <c:catAx>
        <c:axId val="6282975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50159"/>
        <c:crosses val="autoZero"/>
        <c:auto val="1"/>
        <c:lblAlgn val="ctr"/>
        <c:lblOffset val="100"/>
        <c:noMultiLvlLbl val="1"/>
      </c:catAx>
      <c:valAx>
        <c:axId val="6366501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82975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Visits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Tabelle1!$A$2:$A$7</c:f>
              <c:numCache>
                <c:formatCode>General</c:formatCode>
                <c:ptCount val="6"/>
                <c:pt idx="0">
                  <c:v>45292</c:v>
                </c:pt>
                <c:pt idx="1">
                  <c:v>45295</c:v>
                </c:pt>
                <c:pt idx="2">
                  <c:v>45296</c:v>
                </c:pt>
                <c:pt idx="3">
                  <c:v>45303</c:v>
                </c:pt>
                <c:pt idx="4">
                  <c:v>45310</c:v>
                </c:pt>
                <c:pt idx="5">
                  <c:v>45324</c:v>
                </c:pt>
              </c:numCache>
            </c:num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  <c:pt idx="4">
                  <c:v>19</c:v>
                </c:pt>
                <c:pt idx="5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E0A-4B72-9A3A-B689D00CF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0567967"/>
        <c:axId val="636652079"/>
      </c:lineChart>
      <c:dateAx>
        <c:axId val="630567967"/>
        <c:scaling>
          <c:orientation val="minMax"/>
        </c:scaling>
        <c:delete val="0"/>
        <c:axPos val="b"/>
        <c:numFmt formatCode="d\.\ mmm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52079"/>
        <c:crosses val="autoZero"/>
        <c:auto val="0"/>
        <c:lblOffset val="100"/>
        <c:baseTimeUnit val="days"/>
        <c:majorUnit val="7"/>
        <c:majorTimeUnit val="days"/>
      </c:dateAx>
      <c:valAx>
        <c:axId val="6366520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679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Orders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Tabelle1!$A$2:$A$7</c:f>
              <c:numCache>
                <c:formatCode>General</c:formatCode>
                <c:ptCount val="6"/>
                <c:pt idx="0">
                  <c:v>45292</c:v>
                </c:pt>
                <c:pt idx="1">
                  <c:v>45306</c:v>
                </c:pt>
                <c:pt idx="2">
                  <c:v>45337</c:v>
                </c:pt>
                <c:pt idx="3">
                  <c:v>45366</c:v>
                </c:pt>
                <c:pt idx="4">
                  <c:v>45383</c:v>
                </c:pt>
                <c:pt idx="5">
                  <c:v>45444</c:v>
                </c:pt>
              </c:numCache>
            </c:numRef>
          </c:cat>
          <c:val>
            <c:numRef>
              <c:f>Tabelle1!$B$2:$B$7</c:f>
              <c:numCache>
                <c:formatCode>General</c:formatCode>
                <c:ptCount val="6"/>
                <c:pt idx="0">
                  <c:v>5</c:v>
                </c:pt>
                <c:pt idx="1">
                  <c:v>8</c:v>
                </c:pt>
                <c:pt idx="2">
                  <c:v>6</c:v>
                </c:pt>
                <c:pt idx="3">
                  <c:v>9</c:v>
                </c:pt>
                <c:pt idx="4">
                  <c:v>7</c:v>
                </c:pt>
                <c:pt idx="5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F0-4F79-B852-898FDCAB33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8303551"/>
        <c:axId val="636654959"/>
      </c:barChart>
      <c:dateAx>
        <c:axId val="628303551"/>
        <c:scaling>
          <c:orientation val="minMax"/>
        </c:scaling>
        <c:delete val="0"/>
        <c:axPos val="b"/>
        <c:numFmt formatCode="mmm\ 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54959"/>
        <c:crosses val="autoZero"/>
        <c:auto val="0"/>
        <c:lblOffset val="100"/>
        <c:baseTimeUnit val="months"/>
      </c:dateAx>
      <c:valAx>
        <c:axId val="6366549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83035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Units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cat>
            <c:strRef>
              <c:f>Tabelle1!$A$2:$A$4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Tabelle1!$B$2:$B$4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98-477D-9AFB-40E8171DAC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8299375"/>
        <c:axId val="636662639"/>
      </c:barChart>
      <c:catAx>
        <c:axId val="6282993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62639"/>
        <c:crosses val="autoZero"/>
        <c:auto val="1"/>
        <c:lblAlgn val="ctr"/>
        <c:lblOffset val="100"/>
        <c:noMultiLvlLbl val="0"/>
      </c:catAx>
      <c:valAx>
        <c:axId val="6366626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8299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4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Units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pictureOptions>
            <c:pictureFormat val="stack"/>
          </c:pictureOptions>
          <c:cat>
            <c:strRef>
              <c:f>Tabelle1!$A$2:$A$4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Tabelle1!$B$2:$B$4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A7-4312-ABAB-CB28FE1888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30565647"/>
        <c:axId val="636653519"/>
      </c:barChart>
      <c:catAx>
        <c:axId val="630565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53519"/>
        <c:crosses val="autoZero"/>
        <c:auto val="1"/>
        <c:lblAlgn val="ctr"/>
        <c:lblOffset val="100"/>
        <c:noMultiLvlLbl val="0"/>
      </c:catAx>
      <c:valAx>
        <c:axId val="6366535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656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4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Units</c:v>
                </c:pt>
              </c:strCache>
            </c:strRef>
          </c:tx>
          <c:spPr>
            <a:blipFill>
              <a:blip xmlns:r="http://schemas.openxmlformats.org/officeDocument/2006/relationships" r:embed="rId3"/>
              <a:stretch>
                <a:fillRect/>
              </a:stretch>
            </a:blipFill>
            <a:ln>
              <a:noFill/>
            </a:ln>
            <a:effectLst/>
          </c:spPr>
          <c:invertIfNegative val="0"/>
          <c:pictureOptions>
            <c:pictureFormat val="stackScale"/>
            <c:pictureStackUnit val="1"/>
          </c:pictureOptions>
          <c:cat>
            <c:strRef>
              <c:f>Tabelle1!$A$2:$A$4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Tabelle1!$B$2:$B$4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9D-408D-821F-8825D2B8C9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30554975"/>
        <c:axId val="636670799"/>
      </c:barChart>
      <c:catAx>
        <c:axId val="6305549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70799"/>
        <c:crosses val="autoZero"/>
        <c:auto val="1"/>
        <c:lblAlgn val="ctr"/>
        <c:lblOffset val="100"/>
        <c:noMultiLvlLbl val="0"/>
      </c:catAx>
      <c:valAx>
        <c:axId val="6366707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549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4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3</c:v>
                </c:pt>
                <c:pt idx="1">
                  <c:v>8</c:v>
                </c:pt>
                <c:pt idx="2">
                  <c:v>5</c:v>
                </c:pt>
                <c:pt idx="3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70-42B8-8A3A-1E68F52469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30545231"/>
        <c:axId val="636672719"/>
      </c:barChart>
      <c:catAx>
        <c:axId val="6305452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72719"/>
        <c:crosses val="autoZero"/>
        <c:auto val="1"/>
        <c:lblAlgn val="ctr"/>
        <c:lblOffset val="100"/>
        <c:noMultiLvlLbl val="0"/>
      </c:catAx>
      <c:valAx>
        <c:axId val="636672719"/>
        <c:scaling>
          <c:orientation val="minMax"/>
          <c:max val="6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452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10"/>
      <c:spPr>
        <a:noFill/>
        <a:ln>
          <a:noFill/>
        </a:ln>
        <a:effectLst/>
        <a:sp3d/>
      </c:spPr>
    </c:floor>
    <c:sideWall>
      <c:thickness val="10"/>
      <c:spPr>
        <a:noFill/>
        <a:ln>
          <a:noFill/>
        </a:ln>
        <a:effectLst/>
        <a:sp3d/>
      </c:spPr>
    </c:sideWall>
    <c:backWall>
      <c:thickness val="1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F8-4042-BAA6-5F0FE93BE302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F8-4042-BAA6-5F0FE93BE302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8F8-4042-BAA6-5F0FE93BE3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627907183"/>
        <c:axId val="636666959"/>
        <c:axId val="0"/>
      </c:bar3DChart>
      <c:catAx>
        <c:axId val="6279071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66959"/>
        <c:crosses val="autoZero"/>
        <c:auto val="1"/>
        <c:lblAlgn val="ctr"/>
        <c:lblOffset val="100"/>
        <c:noMultiLvlLbl val="0"/>
      </c:catAx>
      <c:valAx>
        <c:axId val="6366669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27907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North
region</c:v>
                </c:pt>
                <c:pt idx="1">
                  <c:v>South</c:v>
                </c:pt>
                <c:pt idx="2">
                  <c:v>East
region</c:v>
                </c:pt>
                <c:pt idx="3">
                  <c:v>West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C3-4042-B313-FC58F851E7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30550799"/>
        <c:axId val="636668399"/>
      </c:barChart>
      <c:catAx>
        <c:axId val="6305507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68399"/>
        <c:crosses val="autoZero"/>
        <c:auto val="1"/>
        <c:lblAlgn val="l"/>
        <c:lblOffset val="100"/>
        <c:noMultiLvlLbl val="0"/>
      </c:catAx>
      <c:valAx>
        <c:axId val="6366683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507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North
region</c:v>
                </c:pt>
                <c:pt idx="1">
                  <c:v>South</c:v>
                </c:pt>
                <c:pt idx="2">
                  <c:v>East
region</c:v>
                </c:pt>
                <c:pt idx="3">
                  <c:v>West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B2F-4C17-A10E-C5ED85323F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30565183"/>
        <c:axId val="636671759"/>
      </c:barChart>
      <c:catAx>
        <c:axId val="6305651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671759"/>
        <c:crosses val="autoZero"/>
        <c:auto val="1"/>
        <c:lblAlgn val="r"/>
        <c:lblOffset val="100"/>
        <c:noMultiLvlLbl val="0"/>
      </c:catAx>
      <c:valAx>
        <c:axId val="6366717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65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outer"/>
          <c:xMode val="edge"/>
          <c:yMode val="edge"/>
          <c:wMode val="factor"/>
          <c:hMode val="factor"/>
          <c:x val="0.25"/>
          <c:y val="0.2"/>
          <c:w val="0.6"/>
          <c:h val="0.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Datenreihe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83-4E02-B0B7-C152ED2C6657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Datenreihe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983-4E02-B0B7-C152ED2C6657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Datenreihe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Tabelle1!$A$2:$A$5</c:f>
              <c:strCache>
                <c:ptCount val="4"/>
                <c:pt idx="0">
                  <c:v>Kategorie 1</c:v>
                </c:pt>
                <c:pt idx="1">
                  <c:v>Kategorie 2</c:v>
                </c:pt>
                <c:pt idx="2">
                  <c:v>Kategorie 3</c:v>
                </c:pt>
                <c:pt idx="3">
                  <c:v>Kategorie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983-4E02-B0B7-C152ED2C66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30562399"/>
        <c:axId val="636701039"/>
      </c:barChart>
      <c:catAx>
        <c:axId val="6305623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6701039"/>
        <c:crosses val="autoZero"/>
        <c:auto val="1"/>
        <c:lblAlgn val="ctr"/>
        <c:lblOffset val="100"/>
        <c:noMultiLvlLbl val="0"/>
      </c:catAx>
      <c:valAx>
        <c:axId val="6367010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305623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DAD5-AF36-8D12-D5F9-C8E20B76A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CF5AF91-86F0-CAEC-22FF-13CA08EBE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90BA5C-CEDF-489F-0659-E78B0434C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D672A0-8CD0-2F16-978F-3ABBE8786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F06135-CEA0-6C9E-A9D1-26C862769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3722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549DE0-98E9-5C38-FF3D-04DDFDAEF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FEC028-A248-54AB-625B-F101D8B1B8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2AF06B-1B2A-9316-1769-AD2CD9C42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129F8F5-1C94-BAEE-6C6D-0780DC63E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5896FF1-2324-ECCD-0938-3F18EA4CC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8479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601C4-E034-DDBE-C2EC-51869E565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62E049-4670-6FA2-5561-174DABBC0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651C43-35CE-2163-8BE8-AF4BCA88E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C2874E-1E5A-D32E-EC4B-DD8D15276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8F261F-CE9F-B79F-EFBA-69E9F4F38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3909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9A7170-81B0-74CE-E51E-2C7CD0779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B2C0BC-1E57-EB6E-F838-D067A2CAFB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A9B1984-5A7D-75AD-F27C-268C553E1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EB8353-AB49-A27E-75C9-3AB79357B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C588BE-00A4-22B1-56B0-200F30E6A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350CEAA-48F6-F930-2F63-B79384E8F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7243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C0440-746F-BF1D-9A4D-926681B2F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742D7F-A66E-B635-BDB6-E337F94673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FB22150-4FF7-8BDE-54E9-53A8A2DE4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A1AA9B9-0F74-4978-84B6-5D0AA6251F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A262A0B-29CB-E699-11EA-DA9576320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DA321D7-43E2-4711-C410-5B1B57FA2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4B7B059-F28C-38FA-9A91-2D1493C2E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B662636-9615-FB7C-2881-1F8B4371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881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1881C-2DE4-15CA-2C51-F336EB5B8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B34A5B3-6B83-108A-B8DC-4FF72EEAC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0F0ACF-A002-BC76-1563-0C97C1C9A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CB5CD3-3771-BCF2-20ED-84C343E48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3160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B1D2A47-10E0-AED2-B16C-3FE3FFF65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6805B73-8E26-E8A4-AE55-5363D755D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E191CC-78AF-F6F5-474E-DCE7D4480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4088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6AA5EF-4F11-D086-D8D9-5B41CD7AA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38C77-6C3A-0A4C-4E6B-EFDFAEBDE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3610C81-0660-7552-10F7-660A6C782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B99602D-C2C5-9D71-0943-AA713484A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CD40030-2B4A-EE9C-932B-350AC4024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818CFB-6F92-66B2-C5A9-3FC5631FA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4180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305BC-ACDD-B2DF-1FCB-D8CFCE20E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314873A-1CA4-70A8-6C93-66DAF768751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17FE42-8156-0D37-A57A-E5C5D8B7D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B9E63DF-6F43-8EE6-82E0-B408AD456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3A1A0E-66BF-5709-E3BE-0BD48B096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1C3E84C-DCFB-CE1C-CBF2-9E9601455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134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EC15E3-A8AB-0B24-1844-2936761AB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EADBA7-82B1-57AD-37E4-E0129BFEC6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5C3320-4493-4953-3442-015355C4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780BBA-AD5E-AB4B-8271-759C7A34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133E21-83D6-E2C0-E34B-CF184259F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8261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C91CFAC-E0D3-6894-B589-253BEDB73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1B8BA9C-8F5A-A457-7335-F0338AD12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9FE710-3515-5128-5BEF-0FF0039E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FE69A3-4640-649F-F4E0-C745FCFB5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032EDBE-7A1C-1D2F-EF39-445A8CC1F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4337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B224871-252B-CEF4-22C2-67928EA58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3B0960-91DF-14C4-1C93-D9ECB1F7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ED2D2B-991F-29AE-6333-FF3714FBD2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477E0-FCFD-47FA-91EB-F183162F2E03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A23E57-CBFA-656A-822F-20B8D3EC9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294CC5-3DD7-6CE8-CAAF-A604A47FCA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1A99F7-991B-4D1E-AE48-3919C602603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857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555090-BE40-52C0-E072-6D5EDAE20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Blank cells: gap, zero, span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91BA0A2A-6632-0524-5D17-D72158744E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10106982"/>
              </p:ext>
            </p:extLst>
          </p:nvPr>
        </p:nvGraphicFramePr>
        <p:xfrm>
          <a:off x="254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87AABBE-5C49-FE2D-C335-06DCFE94815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8172377"/>
              </p:ext>
            </p:extLst>
          </p:nvPr>
        </p:nvGraphicFramePr>
        <p:xfrm>
          <a:off x="4191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D22C26C-83AA-2BD9-30C7-F660EA9465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8479021"/>
              </p:ext>
            </p:extLst>
          </p:nvPr>
        </p:nvGraphicFramePr>
        <p:xfrm>
          <a:off x="8128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630793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104003-9F7E-95E4-60C5-FF248A48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hidden row and a filtered series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27B72357-4685-1058-1A02-663B84E594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3385884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2AFBCEAD-8B51-B19F-B1F5-D897976A60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8860217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23115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18D8AB-64B1-AE61-FB4C-FABC49C32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Multi-level categories</a:t>
            </a:r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D0E32FC2-A1D5-C991-BB9E-BB2EF190A4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7951043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EB83672-1E0B-1509-1B6C-916B631535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7659081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983150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6D9909-A0B9-2961-B1EB-55869F0B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Date axes in days and months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F5E16215-D8D1-223C-D8AF-D57F022A28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153042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7471BDBD-7C85-0856-68DF-A9EACF2908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9025480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4296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0D5EE-07B4-6793-5A09-DBD5B09FE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Pictures stretched, stacked and scaled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A90B7914-F81A-9A74-C3C6-015EE41F60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15855303"/>
              </p:ext>
            </p:extLst>
          </p:nvPr>
        </p:nvGraphicFramePr>
        <p:xfrm>
          <a:off x="254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FFAF93B4-4586-6419-9336-C74776B628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2459624"/>
              </p:ext>
            </p:extLst>
          </p:nvPr>
        </p:nvGraphicFramePr>
        <p:xfrm>
          <a:off x="4191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939CAFAA-8564-8C85-62CA-24DD5B01D8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4647595"/>
              </p:ext>
            </p:extLst>
          </p:nvPr>
        </p:nvGraphicFramePr>
        <p:xfrm>
          <a:off x="8128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021675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1F7AFD-A5B4-D4B4-692E-A1758D38F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Labels above the maximum, thick walls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D63FD5BD-473F-BA04-3593-2666F70470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5020902"/>
              </p:ext>
            </p:extLst>
          </p:nvPr>
        </p:nvGraphicFramePr>
        <p:xfrm>
          <a:off x="254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D159CC3B-8226-9494-CF56-C8F808CFEF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4664404"/>
              </p:ext>
            </p:extLst>
          </p:nvPr>
        </p:nvGraphicFramePr>
        <p:xfrm>
          <a:off x="6223000" y="1397000"/>
          <a:ext cx="5842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99791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A7E939-C566-0FD2-1130-E7547D9F9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Label alignment and an outer plot layout</a:t>
            </a:r>
            <a:endParaRPr lang="de-DE"/>
          </a:p>
        </p:txBody>
      </p:sp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F89BC812-A31E-BDD8-6228-A340EFDF1C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5731751"/>
              </p:ext>
            </p:extLst>
          </p:nvPr>
        </p:nvGraphicFramePr>
        <p:xfrm>
          <a:off x="254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64E4F072-FD0E-0E8D-B098-637AE8A8357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3849072"/>
              </p:ext>
            </p:extLst>
          </p:nvPr>
        </p:nvGraphicFramePr>
        <p:xfrm>
          <a:off x="4191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884FFB27-DEDF-1653-36E6-40317D5D39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6462071"/>
              </p:ext>
            </p:extLst>
          </p:nvPr>
        </p:nvGraphicFramePr>
        <p:xfrm>
          <a:off x="8128000" y="1397000"/>
          <a:ext cx="3810000" cy="520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030301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</Words>
  <Application>Microsoft Office PowerPoint</Application>
  <PresentationFormat>Benutzerdefiniert</PresentationFormat>
  <Paragraphs>10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Blank cells: gap, zero, span</vt:lpstr>
      <vt:lpstr>A hidden row and a filtered series</vt:lpstr>
      <vt:lpstr>Multi-level categories</vt:lpstr>
      <vt:lpstr>Date axes in days and months</vt:lpstr>
      <vt:lpstr>Pictures stretched, stacked and scaled</vt:lpstr>
      <vt:lpstr>Labels above the maximum, thick walls</vt:lpstr>
      <vt:lpstr>Label alignment and an outer plot layout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2026-10-09T00:58:34Z</dcterms:created>
  <dcterms:modified xsi:type="dcterms:W3CDTF">2026-10-09T00:58:34Z</dcterms:modified>
</cp:coreProperties>
</file>