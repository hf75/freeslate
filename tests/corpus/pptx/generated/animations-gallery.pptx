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8F40E31-3318-FF0C-E44C-8DBF499972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3951DC5-76F5-623A-0C11-52610BF73F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F1A51DB-82C5-EDD4-6004-C7CE34333F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CCDAF-C0FD-41A7-AC91-00988375B8BA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9072FD0-0720-733C-4B93-D9E0A34208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0ED92E5-C49E-E770-C5F8-5D29980D82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45C21-F40F-4997-A5DE-911FC237E36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105695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930822-1F11-AEFF-11D6-37623205A1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0571D5F-D956-43E7-1CFE-432ACF90BE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9487E17-AF84-D85A-3221-9DF7F77D0B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CCDAF-C0FD-41A7-AC91-00988375B8BA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1A459E6-241B-D96A-9B4B-127F670CA1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3156F57-FD2C-0677-BD44-A6489F1CB3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45C21-F40F-4997-A5DE-911FC237E36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998927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43D4F8-F35D-79BC-55BB-48A6F46BCE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A09FD2A-B934-2264-FDE3-F8AB4AB7A2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8D2D48B-4BBD-F643-DC52-467EBA807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CCDAF-C0FD-41A7-AC91-00988375B8BA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6256A28-68D3-B304-81B9-C307237A9F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82D470C-EEDA-76FB-AFBD-73FF5C52B0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45C21-F40F-4997-A5DE-911FC237E36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388423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4333BE-83A9-1DFB-2753-567DAD1E9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CF7992E-13DF-3895-C043-81D4F4D2119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BC0D325-D8BD-CE7C-B86E-09855A8B40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6F0E417-2ADD-B3EC-49A6-24F0DFFA42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CCDAF-C0FD-41A7-AC91-00988375B8BA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7B74DA3-2673-D368-B3C8-E70BAA6DD9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E3871D0-AEE8-56FB-BFF3-15B72A5911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45C21-F40F-4997-A5DE-911FC237E36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883800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80B1B1-69B1-95BA-46E6-EB64BC641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3EB960B-C0B7-0DF7-F051-92CAB51A7D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B3E3CB9-2F4D-1276-A3D4-648FE6EE6B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F1EEEFE-FFBA-9A71-D4A7-78A6F88B36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82B88FD3-FB4B-6684-801E-B68510B410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624CDD85-AFB4-3EC2-6B42-68DA5763A1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CCDAF-C0FD-41A7-AC91-00988375B8BA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0E9FBCC8-285A-5602-0D1D-13B2E782D5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D1EA9B38-3C50-C61F-0D55-6E8FAD8D5E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45C21-F40F-4997-A5DE-911FC237E36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98755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703B3C-FF0B-7E6C-8794-BCB77EF7EF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9D9001F-778B-4E77-6FAC-FF309FDABD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CCDAF-C0FD-41A7-AC91-00988375B8BA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80FC615-0046-A0F8-8C00-3AC246A93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11439F8-E2E5-1144-6DFD-DD4D9E75E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45C21-F40F-4997-A5DE-911FC237E36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65094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EF735AAF-7663-E4F8-13E6-5E4CC159C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CCDAF-C0FD-41A7-AC91-00988375B8BA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49FBDA8-C67C-1E74-1868-B2B576057E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86FB557-488F-B81B-3BEF-ED9DCA5C80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45C21-F40F-4997-A5DE-911FC237E36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472587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A4BC74-81F2-D850-FB68-39EBE0E77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9E2ABC7-7D6F-1558-E22E-BBCEA4AEF5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C197E6A-DAA1-5D83-417E-4FFD3C9C4F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7E52F14-A376-24CE-832C-350CA3F68F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CCDAF-C0FD-41A7-AC91-00988375B8BA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B212E12-76EA-FE90-1AAF-B3B51AE63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A7C31E5-F9CC-55D2-A0C7-35E085FBA5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45C21-F40F-4997-A5DE-911FC237E36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857422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A37AE54-9AE2-5D85-5839-79391D10DD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A2513E4F-FD72-ED1D-A145-265D01443157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3CC6398-8E60-E149-CFA7-8D1C988ECC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4301B1D-51DC-1E80-6D73-B8815F6E4D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CCDAF-C0FD-41A7-AC91-00988375B8BA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CC79998-9EB3-EB10-747A-048769A21D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CD9640D-66E1-FB5B-689C-2AA32565F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45C21-F40F-4997-A5DE-911FC237E36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703267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83F3381-FAFE-9C0B-C450-4BC176C7E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35B38093-C50D-A2EF-F48B-369D380893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09B3060-2B29-D419-14DF-B92F013FC1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CCDAF-C0FD-41A7-AC91-00988375B8BA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15EE9C0-5AAD-18DC-ED80-EAB9A86E9D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DEE7CBF-7904-7C99-8F0C-B948D4BC30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45C21-F40F-4997-A5DE-911FC237E36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718862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2BF0C74F-035F-8290-5F5A-5223521A78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C583F0D-C98D-8A21-A24A-0F6D70DAB0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6FF8B6-EF8E-10A7-CD84-47F54049E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CCDAF-C0FD-41A7-AC91-00988375B8BA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9962B93-8CBE-ECCB-B4D0-232DB6913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6BDAF6D-5C36-8436-72FF-1FA2182A7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45C21-F40F-4997-A5DE-911FC237E36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049445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11B99D86-1C00-2F5F-E1D7-F9819D7088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EDFEA11-3831-8FBD-1B67-C2700816A9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68535A3-D594-11BE-FBC5-292D6AF6626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B6CCDAF-C0FD-41A7-AC91-00988375B8BA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90B4583-7054-6A08-F1F8-8C41CC7A04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059A73F-EB36-212B-96B2-24E8360E37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E45C21-F40F-4997-A5DE-911FC237E36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877465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61169B-172B-8CAB-BF62-3FE230F3B0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Entrance: shapes and bars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960D9431-223D-AEF9-CC89-A6F3EB18DC11}"/>
              </a:ext>
            </a:extLst>
          </p:cNvPr>
          <p:cNvSpPr/>
          <p:nvPr/>
        </p:nvSpPr>
        <p:spPr>
          <a:xfrm>
            <a:off x="508000" y="1778000"/>
            <a:ext cx="2540000" cy="1905000"/>
          </a:xfrm>
          <a:prstGeom prst="rect">
            <a:avLst/>
          </a:prstGeom>
          <a:solidFill>
            <a:srgbClr val="4472C4"/>
          </a:solidFill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solidFill>
                  <a:srgbClr val="FFFFFF"/>
                </a:solidFill>
              </a:rPr>
              <a:t>Blinds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8B425527-5F2D-A373-ECDA-8259DFF31918}"/>
              </a:ext>
            </a:extLst>
          </p:cNvPr>
          <p:cNvSpPr/>
          <p:nvPr/>
        </p:nvSpPr>
        <p:spPr>
          <a:xfrm>
            <a:off x="3365500" y="1778000"/>
            <a:ext cx="2540000" cy="1905000"/>
          </a:xfrm>
          <a:prstGeom prst="rect">
            <a:avLst/>
          </a:prstGeom>
          <a:solidFill>
            <a:srgbClr val="4472C4"/>
          </a:solidFill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solidFill>
                  <a:srgbClr val="FFFFFF"/>
                </a:solidFill>
              </a:rPr>
              <a:t>Box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AEF3477-D27E-28A6-838A-211ECE1B64FF}"/>
              </a:ext>
            </a:extLst>
          </p:cNvPr>
          <p:cNvSpPr/>
          <p:nvPr/>
        </p:nvSpPr>
        <p:spPr>
          <a:xfrm>
            <a:off x="6223000" y="1778000"/>
            <a:ext cx="2540000" cy="1905000"/>
          </a:xfrm>
          <a:prstGeom prst="rect">
            <a:avLst/>
          </a:prstGeom>
          <a:solidFill>
            <a:srgbClr val="4472C4"/>
          </a:solidFill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solidFill>
                  <a:srgbClr val="FFFFFF"/>
                </a:solidFill>
              </a:rPr>
              <a:t>Checkerboard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31455257-957E-DB72-831F-E2BCF13BCB7D}"/>
              </a:ext>
            </a:extLst>
          </p:cNvPr>
          <p:cNvSpPr/>
          <p:nvPr/>
        </p:nvSpPr>
        <p:spPr>
          <a:xfrm>
            <a:off x="9080500" y="1778000"/>
            <a:ext cx="2540000" cy="1905000"/>
          </a:xfrm>
          <a:prstGeom prst="rect">
            <a:avLst/>
          </a:prstGeom>
          <a:solidFill>
            <a:srgbClr val="4472C4"/>
          </a:solidFill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solidFill>
                  <a:srgbClr val="FFFFFF"/>
                </a:solidFill>
              </a:rPr>
              <a:t>Circle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0718BD7-1B88-BA1D-9EF6-61A76053B642}"/>
              </a:ext>
            </a:extLst>
          </p:cNvPr>
          <p:cNvSpPr/>
          <p:nvPr/>
        </p:nvSpPr>
        <p:spPr>
          <a:xfrm>
            <a:off x="508000" y="4191000"/>
            <a:ext cx="2540000" cy="1905000"/>
          </a:xfrm>
          <a:prstGeom prst="rect">
            <a:avLst/>
          </a:prstGeom>
          <a:solidFill>
            <a:srgbClr val="4472C4"/>
          </a:solidFill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solidFill>
                  <a:srgbClr val="FFFFFF"/>
                </a:solidFill>
              </a:rPr>
              <a:t>Diamond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30F1E6B8-AA83-51A0-C0CF-A1C1EA748DD4}"/>
              </a:ext>
            </a:extLst>
          </p:cNvPr>
          <p:cNvSpPr/>
          <p:nvPr/>
        </p:nvSpPr>
        <p:spPr>
          <a:xfrm>
            <a:off x="3365500" y="4191000"/>
            <a:ext cx="2540000" cy="1905000"/>
          </a:xfrm>
          <a:prstGeom prst="rect">
            <a:avLst/>
          </a:prstGeom>
          <a:solidFill>
            <a:srgbClr val="4472C4"/>
          </a:solidFill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solidFill>
                  <a:srgbClr val="FFFFFF"/>
                </a:solidFill>
              </a:rPr>
              <a:t>Dissolve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C9F58EE5-AEBF-6541-FC30-1AD532DF1C7F}"/>
              </a:ext>
            </a:extLst>
          </p:cNvPr>
          <p:cNvSpPr/>
          <p:nvPr/>
        </p:nvSpPr>
        <p:spPr>
          <a:xfrm>
            <a:off x="6223000" y="4191000"/>
            <a:ext cx="2540000" cy="1905000"/>
          </a:xfrm>
          <a:prstGeom prst="rect">
            <a:avLst/>
          </a:prstGeom>
          <a:solidFill>
            <a:srgbClr val="4472C4"/>
          </a:solidFill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solidFill>
                  <a:srgbClr val="FFFFFF"/>
                </a:solidFill>
              </a:rPr>
              <a:t>Plus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6723CED6-3AA3-CE7D-226E-0C942FC713B9}"/>
              </a:ext>
            </a:extLst>
          </p:cNvPr>
          <p:cNvSpPr/>
          <p:nvPr/>
        </p:nvSpPr>
        <p:spPr>
          <a:xfrm>
            <a:off x="9080500" y="4191000"/>
            <a:ext cx="2540000" cy="1905000"/>
          </a:xfrm>
          <a:prstGeom prst="rect">
            <a:avLst/>
          </a:prstGeom>
          <a:solidFill>
            <a:srgbClr val="4472C4"/>
          </a:solidFill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solidFill>
                  <a:srgbClr val="FFFFFF"/>
                </a:solidFill>
              </a:rPr>
              <a:t>Random bars</a:t>
            </a:r>
          </a:p>
        </p:txBody>
      </p:sp>
    </p:spTree>
    <p:extLst>
      <p:ext uri="{BB962C8B-B14F-4D97-AF65-F5344CB8AC3E}">
        <p14:creationId xmlns:p14="http://schemas.microsoft.com/office/powerpoint/2010/main" val="2042290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8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800"/>
                            </p:stCondLst>
                            <p:childTnLst>
                              <p:par>
                                <p:cTn id="9" presetID="4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1" dur="8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600"/>
                            </p:stCondLst>
                            <p:childTnLst>
                              <p:par>
                                <p:cTn id="13" presetID="5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5" dur="8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400"/>
                            </p:stCondLst>
                            <p:childTnLst>
                              <p:par>
                                <p:cTn id="17" presetID="6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9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200"/>
                            </p:stCondLst>
                            <p:childTnLst>
                              <p:par>
                                <p:cTn id="21" presetID="8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23" dur="8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000"/>
                            </p:stCondLst>
                            <p:childTnLst>
                              <p:par>
                                <p:cTn id="2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8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800"/>
                            </p:stCondLst>
                            <p:childTnLst>
                              <p:par>
                                <p:cTn id="29" presetID="1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plus(in)">
                                      <p:cBhvr>
                                        <p:cTn id="31" dur="8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600"/>
                            </p:stCondLst>
                            <p:childTnLst>
                              <p:par>
                                <p:cTn id="33" presetID="14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5" dur="8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60AA23-80E3-E99C-615F-12D4362CF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Entrance: splits and turns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B2E6383E-3DC2-51E1-FF12-09FCDCC03535}"/>
              </a:ext>
            </a:extLst>
          </p:cNvPr>
          <p:cNvSpPr/>
          <p:nvPr/>
        </p:nvSpPr>
        <p:spPr>
          <a:xfrm>
            <a:off x="508000" y="1778000"/>
            <a:ext cx="2540000" cy="1905000"/>
          </a:xfrm>
          <a:prstGeom prst="rect">
            <a:avLst/>
          </a:prstGeom>
          <a:solidFill>
            <a:srgbClr val="4472C4"/>
          </a:solidFill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solidFill>
                  <a:srgbClr val="FFFFFF"/>
                </a:solidFill>
              </a:rPr>
              <a:t>Peek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CB307273-FAE1-D417-80A8-336EE5489D70}"/>
              </a:ext>
            </a:extLst>
          </p:cNvPr>
          <p:cNvSpPr/>
          <p:nvPr/>
        </p:nvSpPr>
        <p:spPr>
          <a:xfrm>
            <a:off x="3365500" y="1778000"/>
            <a:ext cx="2540000" cy="1905000"/>
          </a:xfrm>
          <a:prstGeom prst="rect">
            <a:avLst/>
          </a:prstGeom>
          <a:solidFill>
            <a:srgbClr val="4472C4"/>
          </a:solidFill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solidFill>
                  <a:srgbClr val="FFFFFF"/>
                </a:solidFill>
              </a:rPr>
              <a:t>Spiral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B89A7BF-AE9B-CCB2-BEDF-8E84780FAE07}"/>
              </a:ext>
            </a:extLst>
          </p:cNvPr>
          <p:cNvSpPr/>
          <p:nvPr/>
        </p:nvSpPr>
        <p:spPr>
          <a:xfrm>
            <a:off x="6223000" y="1778000"/>
            <a:ext cx="2540000" cy="1905000"/>
          </a:xfrm>
          <a:prstGeom prst="rect">
            <a:avLst/>
          </a:prstGeom>
          <a:solidFill>
            <a:srgbClr val="4472C4"/>
          </a:solidFill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solidFill>
                  <a:srgbClr val="FFFFFF"/>
                </a:solidFill>
              </a:rPr>
              <a:t>Split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761B546E-E02C-7865-4594-34A48499A104}"/>
              </a:ext>
            </a:extLst>
          </p:cNvPr>
          <p:cNvSpPr/>
          <p:nvPr/>
        </p:nvSpPr>
        <p:spPr>
          <a:xfrm>
            <a:off x="9080500" y="1778000"/>
            <a:ext cx="2540000" cy="1905000"/>
          </a:xfrm>
          <a:prstGeom prst="rect">
            <a:avLst/>
          </a:prstGeom>
          <a:solidFill>
            <a:srgbClr val="4472C4"/>
          </a:solidFill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solidFill>
                  <a:srgbClr val="FFFFFF"/>
                </a:solidFill>
              </a:rPr>
              <a:t>Stretch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B1E34F6B-65C4-82FA-1DAB-801A89440861}"/>
              </a:ext>
            </a:extLst>
          </p:cNvPr>
          <p:cNvSpPr/>
          <p:nvPr/>
        </p:nvSpPr>
        <p:spPr>
          <a:xfrm>
            <a:off x="508000" y="4191000"/>
            <a:ext cx="2540000" cy="1905000"/>
          </a:xfrm>
          <a:prstGeom prst="rect">
            <a:avLst/>
          </a:prstGeom>
          <a:solidFill>
            <a:srgbClr val="4472C4"/>
          </a:solidFill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solidFill>
                  <a:srgbClr val="FFFFFF"/>
                </a:solidFill>
              </a:rPr>
              <a:t>Strips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D03E05FD-59CB-E671-AF74-A81E40592FA2}"/>
              </a:ext>
            </a:extLst>
          </p:cNvPr>
          <p:cNvSpPr/>
          <p:nvPr/>
        </p:nvSpPr>
        <p:spPr>
          <a:xfrm>
            <a:off x="3365500" y="4191000"/>
            <a:ext cx="2540000" cy="1905000"/>
          </a:xfrm>
          <a:prstGeom prst="rect">
            <a:avLst/>
          </a:prstGeom>
          <a:solidFill>
            <a:srgbClr val="4472C4"/>
          </a:solidFill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solidFill>
                  <a:srgbClr val="FFFFFF"/>
                </a:solidFill>
              </a:rPr>
              <a:t>Swivel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5AFE1610-DF59-F2C0-8876-F2196965F80E}"/>
              </a:ext>
            </a:extLst>
          </p:cNvPr>
          <p:cNvSpPr/>
          <p:nvPr/>
        </p:nvSpPr>
        <p:spPr>
          <a:xfrm>
            <a:off x="6223000" y="4191000"/>
            <a:ext cx="2540000" cy="1905000"/>
          </a:xfrm>
          <a:prstGeom prst="rect">
            <a:avLst/>
          </a:prstGeom>
          <a:solidFill>
            <a:srgbClr val="4472C4"/>
          </a:solidFill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solidFill>
                  <a:srgbClr val="FFFFFF"/>
                </a:solidFill>
              </a:rPr>
              <a:t>Wedge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5F79E755-8A68-C930-0C7B-3DB94D3434A1}"/>
              </a:ext>
            </a:extLst>
          </p:cNvPr>
          <p:cNvSpPr/>
          <p:nvPr/>
        </p:nvSpPr>
        <p:spPr>
          <a:xfrm>
            <a:off x="9080500" y="4191000"/>
            <a:ext cx="2540000" cy="1905000"/>
          </a:xfrm>
          <a:prstGeom prst="rect">
            <a:avLst/>
          </a:prstGeom>
          <a:solidFill>
            <a:srgbClr val="4472C4"/>
          </a:solidFill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solidFill>
                  <a:srgbClr val="FFFFFF"/>
                </a:solidFill>
              </a:rPr>
              <a:t>Wheel</a:t>
            </a:r>
          </a:p>
        </p:txBody>
      </p:sp>
    </p:spTree>
    <p:extLst>
      <p:ext uri="{BB962C8B-B14F-4D97-AF65-F5344CB8AC3E}">
        <p14:creationId xmlns:p14="http://schemas.microsoft.com/office/powerpoint/2010/main" val="31818669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8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8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800"/>
                            </p:stCondLst>
                            <p:childTnLst>
                              <p:par>
                                <p:cTn id="10" presetID="1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8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8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8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8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600"/>
                            </p:stCondLst>
                            <p:childTnLst>
                              <p:par>
                                <p:cTn id="17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8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400"/>
                            </p:stCondLst>
                            <p:childTnLst>
                              <p:par>
                                <p:cTn id="21" presetID="17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8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8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200"/>
                            </p:stCondLst>
                            <p:childTnLst>
                              <p:par>
                                <p:cTn id="26" presetID="18" presetClass="entr" presetSubtype="1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28" dur="8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000"/>
                            </p:stCondLst>
                            <p:childTnLst>
                              <p:par>
                                <p:cTn id="30" presetID="19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4800"/>
                            </p:stCondLst>
                            <p:childTnLst>
                              <p:par>
                                <p:cTn id="35" presetID="2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37" dur="8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600"/>
                            </p:stCondLst>
                            <p:childTnLst>
                              <p:par>
                                <p:cTn id="39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1" dur="8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C515A3-1CF5-B752-2C72-9DAC21F41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Entrance: moderate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CFDB61AB-1ACF-7FE0-1787-ADA5FD4D1CE4}"/>
              </a:ext>
            </a:extLst>
          </p:cNvPr>
          <p:cNvSpPr/>
          <p:nvPr/>
        </p:nvSpPr>
        <p:spPr>
          <a:xfrm>
            <a:off x="508000" y="1778000"/>
            <a:ext cx="2540000" cy="1905000"/>
          </a:xfrm>
          <a:prstGeom prst="rect">
            <a:avLst/>
          </a:prstGeom>
          <a:solidFill>
            <a:srgbClr val="4472C4"/>
          </a:solidFill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solidFill>
                  <a:srgbClr val="FFFFFF"/>
                </a:solidFill>
              </a:rPr>
              <a:t>Boomerang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74E360E-47B4-5BA5-D145-5FACCDF6DC2C}"/>
              </a:ext>
            </a:extLst>
          </p:cNvPr>
          <p:cNvSpPr/>
          <p:nvPr/>
        </p:nvSpPr>
        <p:spPr>
          <a:xfrm>
            <a:off x="3365500" y="1778000"/>
            <a:ext cx="2540000" cy="1905000"/>
          </a:xfrm>
          <a:prstGeom prst="rect">
            <a:avLst/>
          </a:prstGeom>
          <a:solidFill>
            <a:srgbClr val="4472C4"/>
          </a:solidFill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solidFill>
                  <a:srgbClr val="FFFFFF"/>
                </a:solidFill>
              </a:rPr>
              <a:t>Color reveal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B69D30D4-3EC0-265D-DBCB-5F277E22D3F1}"/>
              </a:ext>
            </a:extLst>
          </p:cNvPr>
          <p:cNvSpPr/>
          <p:nvPr/>
        </p:nvSpPr>
        <p:spPr>
          <a:xfrm>
            <a:off x="6223000" y="1778000"/>
            <a:ext cx="2540000" cy="1905000"/>
          </a:xfrm>
          <a:prstGeom prst="rect">
            <a:avLst/>
          </a:prstGeom>
          <a:solidFill>
            <a:srgbClr val="4472C4"/>
          </a:solidFill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solidFill>
                  <a:srgbClr val="FFFFFF"/>
                </a:solidFill>
              </a:rPr>
              <a:t>Ease in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218D0E2E-617A-000C-A27F-CA1748595C54}"/>
              </a:ext>
            </a:extLst>
          </p:cNvPr>
          <p:cNvSpPr/>
          <p:nvPr/>
        </p:nvSpPr>
        <p:spPr>
          <a:xfrm>
            <a:off x="9080500" y="1778000"/>
            <a:ext cx="2540000" cy="1905000"/>
          </a:xfrm>
          <a:prstGeom prst="rect">
            <a:avLst/>
          </a:prstGeom>
          <a:solidFill>
            <a:srgbClr val="4472C4"/>
          </a:solidFill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solidFill>
                  <a:srgbClr val="FFFFFF"/>
                </a:solidFill>
              </a:rPr>
              <a:t>Float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9ACA5801-47D8-472E-55CD-8735B02E9DAF}"/>
              </a:ext>
            </a:extLst>
          </p:cNvPr>
          <p:cNvSpPr/>
          <p:nvPr/>
        </p:nvSpPr>
        <p:spPr>
          <a:xfrm>
            <a:off x="508000" y="4191000"/>
            <a:ext cx="2540000" cy="1905000"/>
          </a:xfrm>
          <a:prstGeom prst="rect">
            <a:avLst/>
          </a:prstGeom>
          <a:solidFill>
            <a:srgbClr val="4472C4"/>
          </a:solidFill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solidFill>
                  <a:srgbClr val="FFFFFF"/>
                </a:solidFill>
              </a:rPr>
              <a:t>Grow and turn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CF5D9BEB-C519-1A70-2A11-E2EC3B8DAD65}"/>
              </a:ext>
            </a:extLst>
          </p:cNvPr>
          <p:cNvSpPr/>
          <p:nvPr/>
        </p:nvSpPr>
        <p:spPr>
          <a:xfrm>
            <a:off x="3365500" y="4191000"/>
            <a:ext cx="2540000" cy="1905000"/>
          </a:xfrm>
          <a:prstGeom prst="rect">
            <a:avLst/>
          </a:prstGeom>
          <a:solidFill>
            <a:srgbClr val="4472C4"/>
          </a:solidFill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solidFill>
                  <a:srgbClr val="FFFFFF"/>
                </a:solidFill>
              </a:rPr>
              <a:t>Light speed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81E3AB0D-CF76-57E6-04CC-8C8F67008203}"/>
              </a:ext>
            </a:extLst>
          </p:cNvPr>
          <p:cNvSpPr/>
          <p:nvPr/>
        </p:nvSpPr>
        <p:spPr>
          <a:xfrm>
            <a:off x="6223000" y="4191000"/>
            <a:ext cx="2540000" cy="1905000"/>
          </a:xfrm>
          <a:prstGeom prst="rect">
            <a:avLst/>
          </a:prstGeom>
          <a:solidFill>
            <a:srgbClr val="4472C4"/>
          </a:solidFill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solidFill>
                  <a:srgbClr val="FFFFFF"/>
                </a:solidFill>
              </a:rPr>
              <a:t>Pinwheel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61DA021-0281-0BBA-D7AF-9230DA7FE6BB}"/>
              </a:ext>
            </a:extLst>
          </p:cNvPr>
          <p:cNvSpPr/>
          <p:nvPr/>
        </p:nvSpPr>
        <p:spPr>
          <a:xfrm>
            <a:off x="9080500" y="4191000"/>
            <a:ext cx="2540000" cy="1905000"/>
          </a:xfrm>
          <a:prstGeom prst="rect">
            <a:avLst/>
          </a:prstGeom>
          <a:solidFill>
            <a:srgbClr val="4472C4"/>
          </a:solidFill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solidFill>
                  <a:srgbClr val="FFFFFF"/>
                </a:solidFill>
              </a:rPr>
              <a:t>Rise up</a:t>
            </a:r>
          </a:p>
        </p:txBody>
      </p:sp>
    </p:spTree>
    <p:extLst>
      <p:ext uri="{BB962C8B-B14F-4D97-AF65-F5344CB8AC3E}">
        <p14:creationId xmlns:p14="http://schemas.microsoft.com/office/powerpoint/2010/main" val="3784744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*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accel="500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8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4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400" accel="500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8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800"/>
                            </p:stCondLst>
                            <p:childTnLst>
                              <p:par>
                                <p:cTn id="16" presetID="27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18" dur="800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19" dur="800"/>
                                        <p:tgtEl>
                                          <p:spTgt spid="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0" dur="800"/>
                                        <p:tgtEl>
                                          <p:spTgt spid="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600"/>
                            </p:stCondLst>
                            <p:childTnLst>
                              <p:par>
                                <p:cTn id="22" presetID="2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8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8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 prLst="gradientSize: 0.1">
                                      <p:cBhvr>
                                        <p:cTn id="26" dur="8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400"/>
                            </p:stCondLst>
                            <p:childTnLst>
                              <p:par>
                                <p:cTn id="28" presetID="3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40" decel="100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4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4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64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60" accel="100000" fill="hold">
                                          <p:stCondLst>
                                            <p:cond delay="64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60" accel="100000" fill="hold">
                                          <p:stCondLst>
                                            <p:cond delay="64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7200"/>
                            </p:stCondLst>
                            <p:childTnLst>
                              <p:par>
                                <p:cTn id="37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8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8000"/>
                            </p:stCondLst>
                            <p:childTnLst>
                              <p:par>
                                <p:cTn id="44" presetID="34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46" dur="48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47" dur="160" decel="50000" autoRev="1" fill="hold">
                                          <p:stCondLst>
                                            <p:cond delay="48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48" dur="160" decel="100000" autoRev="1" fill="hold">
                                          <p:stCondLst>
                                            <p:cond delay="48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49" dur="160" decel="100000" autoRev="1" fill="hold">
                                          <p:stCondLst>
                                            <p:cond delay="48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8800"/>
                            </p:stCondLst>
                            <p:childTnLst>
                              <p:par>
                                <p:cTn id="51" presetID="3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8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8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8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8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9600"/>
                            </p:stCondLst>
                            <p:childTnLst>
                              <p:par>
                                <p:cTn id="58" presetID="37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8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8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72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80" accel="100000" fill="hold">
                                          <p:stCondLst>
                                            <p:cond delay="72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1EDC25-4F67-A652-50A5-2475BA7D4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Entrance: more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49D21743-5C07-5119-9FDE-26D0F39A29EF}"/>
              </a:ext>
            </a:extLst>
          </p:cNvPr>
          <p:cNvSpPr/>
          <p:nvPr/>
        </p:nvSpPr>
        <p:spPr>
          <a:xfrm>
            <a:off x="508000" y="1778000"/>
            <a:ext cx="2540000" cy="1905000"/>
          </a:xfrm>
          <a:prstGeom prst="rect">
            <a:avLst/>
          </a:prstGeom>
          <a:solidFill>
            <a:srgbClr val="4472C4"/>
          </a:solidFill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solidFill>
                  <a:srgbClr val="FFFFFF"/>
                </a:solidFill>
              </a:rPr>
              <a:t>Swish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366D7D0-C273-9326-032B-1B79411FABFF}"/>
              </a:ext>
            </a:extLst>
          </p:cNvPr>
          <p:cNvSpPr/>
          <p:nvPr/>
        </p:nvSpPr>
        <p:spPr>
          <a:xfrm>
            <a:off x="3365500" y="1778000"/>
            <a:ext cx="2540000" cy="1905000"/>
          </a:xfrm>
          <a:prstGeom prst="rect">
            <a:avLst/>
          </a:prstGeom>
          <a:solidFill>
            <a:srgbClr val="4472C4"/>
          </a:solidFill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solidFill>
                  <a:srgbClr val="FFFFFF"/>
                </a:solidFill>
              </a:rPr>
              <a:t>Thin line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475A4A6-A12A-8001-9B6F-9474ECED6E8D}"/>
              </a:ext>
            </a:extLst>
          </p:cNvPr>
          <p:cNvSpPr/>
          <p:nvPr/>
        </p:nvSpPr>
        <p:spPr>
          <a:xfrm>
            <a:off x="6223000" y="1778000"/>
            <a:ext cx="2540000" cy="1905000"/>
          </a:xfrm>
          <a:prstGeom prst="rect">
            <a:avLst/>
          </a:prstGeom>
          <a:solidFill>
            <a:srgbClr val="4472C4"/>
          </a:solidFill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solidFill>
                  <a:srgbClr val="FFFFFF"/>
                </a:solidFill>
              </a:rPr>
              <a:t>Unfold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D949B838-9A40-1DC4-FAA3-52570989E21B}"/>
              </a:ext>
            </a:extLst>
          </p:cNvPr>
          <p:cNvSpPr/>
          <p:nvPr/>
        </p:nvSpPr>
        <p:spPr>
          <a:xfrm>
            <a:off x="9080500" y="1778000"/>
            <a:ext cx="2540000" cy="1905000"/>
          </a:xfrm>
          <a:prstGeom prst="rect">
            <a:avLst/>
          </a:prstGeom>
          <a:solidFill>
            <a:srgbClr val="4472C4"/>
          </a:solidFill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solidFill>
                  <a:srgbClr val="FFFFFF"/>
                </a:solidFill>
              </a:rPr>
              <a:t>Whip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C4D8AA94-2B78-E678-EBFE-440B2CB3EBA4}"/>
              </a:ext>
            </a:extLst>
          </p:cNvPr>
          <p:cNvSpPr/>
          <p:nvPr/>
        </p:nvSpPr>
        <p:spPr>
          <a:xfrm>
            <a:off x="508000" y="4191000"/>
            <a:ext cx="2540000" cy="1905000"/>
          </a:xfrm>
          <a:prstGeom prst="rect">
            <a:avLst/>
          </a:prstGeom>
          <a:solidFill>
            <a:srgbClr val="4472C4"/>
          </a:solidFill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solidFill>
                  <a:srgbClr val="FFFFFF"/>
                </a:solidFill>
              </a:rPr>
              <a:t>Ascend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F980B11B-2BF7-F9DD-5E52-701C571A1A59}"/>
              </a:ext>
            </a:extLst>
          </p:cNvPr>
          <p:cNvSpPr/>
          <p:nvPr/>
        </p:nvSpPr>
        <p:spPr>
          <a:xfrm>
            <a:off x="3365500" y="4191000"/>
            <a:ext cx="2540000" cy="1905000"/>
          </a:xfrm>
          <a:prstGeom prst="rect">
            <a:avLst/>
          </a:prstGeom>
          <a:solidFill>
            <a:srgbClr val="4472C4"/>
          </a:solidFill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solidFill>
                  <a:srgbClr val="FFFFFF"/>
                </a:solidFill>
              </a:rPr>
              <a:t>Center revolve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8BC79D97-22FD-5885-E3AD-75456407E09A}"/>
              </a:ext>
            </a:extLst>
          </p:cNvPr>
          <p:cNvSpPr/>
          <p:nvPr/>
        </p:nvSpPr>
        <p:spPr>
          <a:xfrm>
            <a:off x="6223000" y="4191000"/>
            <a:ext cx="2540000" cy="1905000"/>
          </a:xfrm>
          <a:prstGeom prst="rect">
            <a:avLst/>
          </a:prstGeom>
          <a:solidFill>
            <a:srgbClr val="4472C4"/>
          </a:solidFill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solidFill>
                  <a:srgbClr val="FFFFFF"/>
                </a:solidFill>
              </a:rPr>
              <a:t>Faded swivel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5CFC22F3-7B6F-9BB2-D3BF-33D95631FBD2}"/>
              </a:ext>
            </a:extLst>
          </p:cNvPr>
          <p:cNvSpPr/>
          <p:nvPr/>
        </p:nvSpPr>
        <p:spPr>
          <a:xfrm>
            <a:off x="9080500" y="4191000"/>
            <a:ext cx="2540000" cy="1905000"/>
          </a:xfrm>
          <a:prstGeom prst="rect">
            <a:avLst/>
          </a:prstGeom>
          <a:solidFill>
            <a:srgbClr val="4472C4"/>
          </a:solidFill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solidFill>
                  <a:srgbClr val="FFFFFF"/>
                </a:solidFill>
              </a:rPr>
              <a:t>Descend</a:t>
            </a:r>
          </a:p>
        </p:txBody>
      </p:sp>
    </p:spTree>
    <p:extLst>
      <p:ext uri="{BB962C8B-B14F-4D97-AF65-F5344CB8AC3E}">
        <p14:creationId xmlns:p14="http://schemas.microsoft.com/office/powerpoint/2010/main" val="3445439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8" presetClass="entr" presetSubtype="0" accel="5000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set>
                                      <p:cBhvr>
                                        <p:cTn id="7" dur="364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o>
                                        <p:strVal val="-45.0"/>
                                      </p:to>
                                    </p:set>
                                    <p:anim calcmode="lin" valueType="num">
                                      <p:cBhvr>
                                        <p:cTn id="8" dur="364" fill="hold">
                                          <p:stCondLst>
                                            <p:cond delay="364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45"/>
                                          </p:val>
                                        </p:tav>
                                        <p:tav tm="69900">
                                          <p:val>
                                            <p:fltVal val="45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64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(0.354*#ppt_w-0.172*#ppt_h)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25" decel="50000" autoRev="1" fill="hold">
                                          <p:stCondLst>
                                            <p:cond delay="364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(0.354*#ppt_w-0.172*#ppt_h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(0.354*#ppt_w-0.172*#ppt_h)-#ppt_h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9" fill="hold">
                                          <p:stCondLst>
                                            <p:cond delay="691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(0.354*#ppt_w-0.172*#ppt_h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400"/>
                            </p:stCondLst>
                            <p:childTnLst>
                              <p:par>
                                <p:cTn id="13" presetID="39" presetClass="entr" presetSubtype="0" ac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8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20"/>
                                          </p:val>
                                        </p:tav>
                                        <p:tav tm="50000">
                                          <p:val>
                                            <p:strVal val="#ppt_h/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8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+.3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8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3"/>
                                          </p:val>
                                        </p:tav>
                                        <p:tav tm="5000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8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200"/>
                            </p:stCondLst>
                            <p:childTnLst>
                              <p:par>
                                <p:cTn id="20" presetID="40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8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8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8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400"/>
                            </p:stCondLst>
                            <p:childTnLst>
                              <p:par>
                                <p:cTn id="26" presetID="4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8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8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8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8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800" tmFilter="0,0; .5, 1; 1, 1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440"/>
                            </p:stCondLst>
                            <p:childTnLst>
                              <p:par>
                                <p:cTn id="3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8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6240"/>
                            </p:stCondLst>
                            <p:childTnLst>
                              <p:par>
                                <p:cTn id="40" presetID="4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3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3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3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3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480" decel="50000" fill="hold">
                                          <p:stCondLst>
                                            <p:cond delay="32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">
                                          <p:val>
                                            <p:strVal val="#ppt_x+0.0242"/>
                                          </p:val>
                                        </p:tav>
                                        <p:tav tm="10000">
                                          <p:val>
                                            <p:strVal val="#ppt_x+0.0479"/>
                                          </p:val>
                                        </p:tav>
                                        <p:tav tm="15000">
                                          <p:val>
                                            <p:strVal val="#ppt_x+0.0704"/>
                                          </p:val>
                                        </p:tav>
                                        <p:tav tm="20000">
                                          <p:val>
                                            <p:strVal val="#ppt_x+0.0911"/>
                                          </p:val>
                                        </p:tav>
                                        <p:tav tm="25000">
                                          <p:val>
                                            <p:strVal val="#ppt_x+0.1096"/>
                                          </p:val>
                                        </p:tav>
                                        <p:tav tm="30000">
                                          <p:val>
                                            <p:strVal val="#ppt_x+0.1254"/>
                                          </p:val>
                                        </p:tav>
                                        <p:tav tm="35000">
                                          <p:val>
                                            <p:strVal val="#ppt_x+0.1381"/>
                                          </p:val>
                                        </p:tav>
                                        <p:tav tm="40000">
                                          <p:val>
                                            <p:strVal val="#ppt_x+0.1474"/>
                                          </p:val>
                                        </p:tav>
                                        <p:tav tm="45000">
                                          <p:val>
                                            <p:strVal val="#ppt_x+0.1531"/>
                                          </p:val>
                                        </p:tav>
                                        <p:tav tm="50000">
                                          <p:val>
                                            <p:strVal val="#ppt_x+0.1550"/>
                                          </p:val>
                                        </p:tav>
                                        <p:tav tm="55000">
                                          <p:val>
                                            <p:strVal val="#ppt_x+0.1531"/>
                                          </p:val>
                                        </p:tav>
                                        <p:tav tm="60000">
                                          <p:val>
                                            <p:strVal val="#ppt_x+0.1474"/>
                                          </p:val>
                                        </p:tav>
                                        <p:tav tm="65000">
                                          <p:val>
                                            <p:strVal val="#ppt_x+0.1381"/>
                                          </p:val>
                                        </p:tav>
                                        <p:tav tm="70000">
                                          <p:val>
                                            <p:strVal val="#ppt_x+0.1254"/>
                                          </p:val>
                                        </p:tav>
                                        <p:tav tm="75000">
                                          <p:val>
                                            <p:strVal val="#ppt_x+0.1096"/>
                                          </p:val>
                                        </p:tav>
                                        <p:tav tm="80000">
                                          <p:val>
                                            <p:strVal val="#ppt_x+0.0911"/>
                                          </p:val>
                                        </p:tav>
                                        <p:tav tm="85000">
                                          <p:val>
                                            <p:strVal val="#ppt_x+0.0704"/>
                                          </p:val>
                                        </p:tav>
                                        <p:tav tm="90000">
                                          <p:val>
                                            <p:strVal val="#ppt_x+0.0479"/>
                                          </p:val>
                                        </p:tav>
                                        <p:tav tm="95000">
                                          <p:val>
                                            <p:strVal val="#ppt_x+0.024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480" decel="50000" fill="hold">
                                          <p:stCondLst>
                                            <p:cond delay="32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31"/>
                                          </p:val>
                                        </p:tav>
                                        <p:tav tm="5000">
                                          <p:val>
                                            <p:strVal val="#ppt_y+0.308"/>
                                          </p:val>
                                        </p:tav>
                                        <p:tav tm="10000">
                                          <p:val>
                                            <p:strVal val="#ppt_y+0.3024"/>
                                          </p:val>
                                        </p:tav>
                                        <p:tav tm="15000">
                                          <p:val>
                                            <p:strVal val="#ppt_y+0.2931"/>
                                          </p:val>
                                        </p:tav>
                                        <p:tav tm="20000">
                                          <p:val>
                                            <p:strVal val="#ppt_y+0.2804"/>
                                          </p:val>
                                        </p:tav>
                                        <p:tav tm="25000">
                                          <p:val>
                                            <p:strVal val="#ppt_y+0.2646"/>
                                          </p:val>
                                        </p:tav>
                                        <p:tav tm="30000">
                                          <p:val>
                                            <p:strVal val="#ppt_y+0.2461"/>
                                          </p:val>
                                        </p:tav>
                                        <p:tav tm="35000">
                                          <p:val>
                                            <p:strVal val="#ppt_y+0.2253"/>
                                          </p:val>
                                        </p:tav>
                                        <p:tav tm="40000">
                                          <p:val>
                                            <p:strVal val="#ppt_y+0.2029"/>
                                          </p:val>
                                        </p:tav>
                                        <p:tav tm="45000">
                                          <p:val>
                                            <p:strVal val="#ppt_y+0.1792"/>
                                          </p:val>
                                        </p:tav>
                                        <p:tav tm="50000">
                                          <p:val>
                                            <p:strVal val="#ppt_y+0.155"/>
                                          </p:val>
                                        </p:tav>
                                        <p:tav tm="55000">
                                          <p:val>
                                            <p:strVal val="#ppt_y+0.1307"/>
                                          </p:val>
                                        </p:tav>
                                        <p:tav tm="60000">
                                          <p:val>
                                            <p:strVal val="#ppt_y+0.1071"/>
                                          </p:val>
                                        </p:tav>
                                        <p:tav tm="65000">
                                          <p:val>
                                            <p:strVal val="#ppt_y+0.0846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639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454"/>
                                          </p:val>
                                        </p:tav>
                                        <p:tav tm="80000">
                                          <p:val>
                                            <p:strVal val="#ppt_y+0.0296"/>
                                          </p:val>
                                        </p:tav>
                                        <p:tav tm="85000">
                                          <p:val>
                                            <p:strVal val="#ppt_y+0.0169"/>
                                          </p:val>
                                        </p:tav>
                                        <p:tav tm="90000">
                                          <p:val>
                                            <p:strVal val="#ppt_y+0.0076"/>
                                          </p:val>
                                        </p:tav>
                                        <p:tav tm="95000">
                                          <p:val>
                                            <p:strVal val="#ppt_y+0.0019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7040"/>
                            </p:stCondLst>
                            <p:childTnLst>
                              <p:par>
                                <p:cTn id="48" presetID="4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8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8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8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7840"/>
                            </p:stCondLst>
                            <p:childTnLst>
                              <p:par>
                                <p:cTn id="54" presetID="47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8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8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8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4E16AA-5939-CEFD-E9C1-88C50C23B2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Entrance: exciting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03E6F940-A1F9-1AB9-9AD6-E539D1397643}"/>
              </a:ext>
            </a:extLst>
          </p:cNvPr>
          <p:cNvSpPr/>
          <p:nvPr/>
        </p:nvSpPr>
        <p:spPr>
          <a:xfrm>
            <a:off x="508000" y="1778000"/>
            <a:ext cx="2540000" cy="1905000"/>
          </a:xfrm>
          <a:prstGeom prst="rect">
            <a:avLst/>
          </a:prstGeom>
          <a:solidFill>
            <a:srgbClr val="4472C4"/>
          </a:solidFill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solidFill>
                  <a:srgbClr val="FFFFFF"/>
                </a:solidFill>
              </a:rPr>
              <a:t>Sling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01C9E3F3-7F42-DB5D-7242-597E84B76A0F}"/>
              </a:ext>
            </a:extLst>
          </p:cNvPr>
          <p:cNvSpPr/>
          <p:nvPr/>
        </p:nvSpPr>
        <p:spPr>
          <a:xfrm>
            <a:off x="3365500" y="1778000"/>
            <a:ext cx="2540000" cy="1905000"/>
          </a:xfrm>
          <a:prstGeom prst="rect">
            <a:avLst/>
          </a:prstGeom>
          <a:solidFill>
            <a:srgbClr val="4472C4"/>
          </a:solidFill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solidFill>
                  <a:srgbClr val="FFFFFF"/>
                </a:solidFill>
              </a:rPr>
              <a:t>Spinner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C8868C99-FAB6-ECA9-E58D-99FDB45E454F}"/>
              </a:ext>
            </a:extLst>
          </p:cNvPr>
          <p:cNvSpPr/>
          <p:nvPr/>
        </p:nvSpPr>
        <p:spPr>
          <a:xfrm>
            <a:off x="6223000" y="1778000"/>
            <a:ext cx="2540000" cy="1905000"/>
          </a:xfrm>
          <a:prstGeom prst="rect">
            <a:avLst/>
          </a:prstGeom>
          <a:solidFill>
            <a:srgbClr val="4472C4"/>
          </a:solidFill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solidFill>
                  <a:srgbClr val="FFFFFF"/>
                </a:solidFill>
              </a:rPr>
              <a:t>Stretchy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2F3AD851-7E9A-F301-C913-7D964F16D926}"/>
              </a:ext>
            </a:extLst>
          </p:cNvPr>
          <p:cNvSpPr/>
          <p:nvPr/>
        </p:nvSpPr>
        <p:spPr>
          <a:xfrm>
            <a:off x="9080500" y="1778000"/>
            <a:ext cx="2540000" cy="1905000"/>
          </a:xfrm>
          <a:prstGeom prst="rect">
            <a:avLst/>
          </a:prstGeom>
          <a:solidFill>
            <a:srgbClr val="4472C4"/>
          </a:solidFill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solidFill>
                  <a:srgbClr val="FFFFFF"/>
                </a:solidFill>
              </a:rPr>
              <a:t>Zip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9680FBD4-003D-FA09-C97A-8C145EEEE9C4}"/>
              </a:ext>
            </a:extLst>
          </p:cNvPr>
          <p:cNvSpPr/>
          <p:nvPr/>
        </p:nvSpPr>
        <p:spPr>
          <a:xfrm>
            <a:off x="508000" y="4191000"/>
            <a:ext cx="2540000" cy="1905000"/>
          </a:xfrm>
          <a:prstGeom prst="rect">
            <a:avLst/>
          </a:prstGeom>
          <a:solidFill>
            <a:srgbClr val="4472C4"/>
          </a:solidFill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solidFill>
                  <a:srgbClr val="FFFFFF"/>
                </a:solidFill>
              </a:rPr>
              <a:t>Arc up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6F9D30BB-A85C-7A70-FDAC-6E520DBB2509}"/>
              </a:ext>
            </a:extLst>
          </p:cNvPr>
          <p:cNvSpPr/>
          <p:nvPr/>
        </p:nvSpPr>
        <p:spPr>
          <a:xfrm>
            <a:off x="3365500" y="4191000"/>
            <a:ext cx="2540000" cy="1905000"/>
          </a:xfrm>
          <a:prstGeom prst="rect">
            <a:avLst/>
          </a:prstGeom>
          <a:solidFill>
            <a:srgbClr val="4472C4"/>
          </a:solidFill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solidFill>
                  <a:srgbClr val="FFFFFF"/>
                </a:solidFill>
              </a:rPr>
              <a:t>Faded zoom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A130E45B-CBE1-79BB-CAF0-A26A57ACD925}"/>
              </a:ext>
            </a:extLst>
          </p:cNvPr>
          <p:cNvSpPr/>
          <p:nvPr/>
        </p:nvSpPr>
        <p:spPr>
          <a:xfrm>
            <a:off x="6223000" y="4191000"/>
            <a:ext cx="2540000" cy="1905000"/>
          </a:xfrm>
          <a:prstGeom prst="rect">
            <a:avLst/>
          </a:prstGeom>
          <a:solidFill>
            <a:srgbClr val="4472C4"/>
          </a:solidFill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solidFill>
                  <a:srgbClr val="FFFFFF"/>
                </a:solidFill>
              </a:rPr>
              <a:t>Glide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3D47DC3A-243C-1D59-655A-86645738B29F}"/>
              </a:ext>
            </a:extLst>
          </p:cNvPr>
          <p:cNvSpPr/>
          <p:nvPr/>
        </p:nvSpPr>
        <p:spPr>
          <a:xfrm>
            <a:off x="9080500" y="4191000"/>
            <a:ext cx="2540000" cy="1905000"/>
          </a:xfrm>
          <a:prstGeom prst="rect">
            <a:avLst/>
          </a:prstGeom>
          <a:solidFill>
            <a:srgbClr val="4472C4"/>
          </a:solidFill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solidFill>
                  <a:srgbClr val="FFFFFF"/>
                </a:solidFill>
              </a:rPr>
              <a:t>Expand</a:t>
            </a:r>
          </a:p>
        </p:txBody>
      </p:sp>
    </p:spTree>
    <p:extLst>
      <p:ext uri="{BB962C8B-B14F-4D97-AF65-F5344CB8AC3E}">
        <p14:creationId xmlns:p14="http://schemas.microsoft.com/office/powerpoint/2010/main" val="33574272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8" presetClass="entr" presetSubtype="0" ac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8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80000">
                                          <p:val>
                                            <p:fltVal val="90"/>
                                          </p:val>
                                        </p:tav>
                                        <p:tav tm="8000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8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1"/>
                                          </p:val>
                                        </p:tav>
                                        <p:tav tm="50000">
                                          <p:val>
                                            <p:fltVal val="0.9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8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8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800"/>
                            </p:stCondLst>
                            <p:childTnLst>
                              <p:par>
                                <p:cTn id="12" presetID="49" presetClass="entr" presetSubtype="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8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8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8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8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600"/>
                            </p:stCondLst>
                            <p:childTnLst>
                              <p:par>
                                <p:cTn id="19" presetID="50" presetClass="entr" presetSubtype="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8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+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8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8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400"/>
                            </p:stCondLst>
                            <p:childTnLst>
                              <p:par>
                                <p:cTn id="25" presetID="5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8" decel="100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8" dur="308" decel="100000"/>
                                        <p:tgtEl>
                                          <p:spTgt spid="6"/>
                                        </p:tgtEl>
                                      </p:cBhvr>
                                      <p:from x="10000" y="10000"/>
                                      <p:to x="200000" y="450000"/>
                                    </p:animScale>
                                    <p:animScale>
                                      <p:cBhvr>
                                        <p:cTn id="29" dur="492" accel="100000" fill="hold">
                                          <p:stCondLst>
                                            <p:cond delay="308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200000" y="450000"/>
                                      <p:to x="100000" y="100000"/>
                                    </p:animScale>
                                    <p:set>
                                      <p:cBhvr>
                                        <p:cTn id="30" dur="308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o>
                                        <p:strVal val="(0.5)"/>
                                      </p:to>
                                    </p:set>
                                    <p:anim from="(0.5)" to="(#ppt_x)" calcmode="lin" valueType="num">
                                      <p:cBhvr>
                                        <p:cTn id="31" dur="492" accel="100000" fill="hold">
                                          <p:stCondLst>
                                            <p:cond delay="308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set>
                                      <p:cBhvr>
                                        <p:cTn id="32" dur="308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o>
                                        <p:strVal val="(#ppt_y+0.4)"/>
                                      </p:to>
                                    </p:set>
                                    <p:anim from="(#ppt_y+0.4)" to="(#ppt_y)" calcmode="lin" valueType="num">
                                      <p:cBhvr>
                                        <p:cTn id="33" dur="492" accel="100000" fill="hold">
                                          <p:stCondLst>
                                            <p:cond delay="308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3200"/>
                            </p:stCondLst>
                            <p:childTnLst>
                              <p:par>
                                <p:cTn id="35" presetID="5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Scale>
                                      <p:cBhvr>
                                        <p:cTn id="37" dur="8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250000" y="250000"/>
                                      <p:to x="100000" y="100000"/>
                                    </p:animScale>
                                    <p:animMotion origin="layout" path="M -0.46736 0.92887  C -0.37517 0.88508  -0.02552 0.75279  0.0908 0.66613  C  0.20747 0.57948  0.21649 0.50394  0.23177 0.40825  C 0.24705 0.31256  0.22118 0.15964   0.18264 0.09152  C 0.1441 0.02341  0.03802 0.0  0.0 0.0  " pathEditMode="relative" ptsTypes="">
                                      <p:cBhvr>
                                        <p:cTn id="38" dur="8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Effect transition="in" filter="fade">
                                      <p:cBhvr>
                                        <p:cTn id="39" dur="8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00"/>
                            </p:stCondLst>
                            <p:childTnLst>
                              <p:par>
                                <p:cTn id="4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8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4800"/>
                            </p:stCondLst>
                            <p:childTnLst>
                              <p:par>
                                <p:cTn id="47" presetID="54" presetClass="entr" presetSubtype="0" ac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8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8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8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8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8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5600"/>
                            </p:stCondLst>
                            <p:childTnLst>
                              <p:par>
                                <p:cTn id="55" presetID="5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8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8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8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A993AA-F902-B08B-B28E-70660AB7B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Emphasis: color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2146B5A1-47C7-7BA5-6001-75A8D416AF96}"/>
              </a:ext>
            </a:extLst>
          </p:cNvPr>
          <p:cNvSpPr/>
          <p:nvPr/>
        </p:nvSpPr>
        <p:spPr>
          <a:xfrm>
            <a:off x="508000" y="1778000"/>
            <a:ext cx="2540000" cy="1905000"/>
          </a:xfrm>
          <a:prstGeom prst="rect">
            <a:avLst/>
          </a:prstGeom>
          <a:solidFill>
            <a:srgbClr val="4472C4"/>
          </a:solidFill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solidFill>
                  <a:srgbClr val="FFFFFF"/>
                </a:solidFill>
              </a:rPr>
              <a:t>Fill color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F8C60FB2-10F8-752A-1385-08F3A9E55AE9}"/>
              </a:ext>
            </a:extLst>
          </p:cNvPr>
          <p:cNvSpPr/>
          <p:nvPr/>
        </p:nvSpPr>
        <p:spPr>
          <a:xfrm>
            <a:off x="3365500" y="1778000"/>
            <a:ext cx="2540000" cy="1905000"/>
          </a:xfrm>
          <a:prstGeom prst="rect">
            <a:avLst/>
          </a:prstGeom>
          <a:solidFill>
            <a:srgbClr val="4472C4"/>
          </a:solidFill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solidFill>
                  <a:srgbClr val="FFFFFF"/>
                </a:solidFill>
              </a:rPr>
              <a:t>Font color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A8BA0B1C-0C80-23BB-D86A-626115FAB835}"/>
              </a:ext>
            </a:extLst>
          </p:cNvPr>
          <p:cNvSpPr/>
          <p:nvPr/>
        </p:nvSpPr>
        <p:spPr>
          <a:xfrm>
            <a:off x="6223000" y="1778000"/>
            <a:ext cx="2540000" cy="1905000"/>
          </a:xfrm>
          <a:prstGeom prst="rect">
            <a:avLst/>
          </a:prstGeom>
          <a:solidFill>
            <a:srgbClr val="4472C4"/>
          </a:solidFill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solidFill>
                  <a:srgbClr val="FFFFFF"/>
                </a:solidFill>
              </a:rPr>
              <a:t>Line color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0A6B022A-4B0B-CFDE-E8E3-1464FC76219C}"/>
              </a:ext>
            </a:extLst>
          </p:cNvPr>
          <p:cNvSpPr/>
          <p:nvPr/>
        </p:nvSpPr>
        <p:spPr>
          <a:xfrm>
            <a:off x="9080500" y="1778000"/>
            <a:ext cx="2540000" cy="1905000"/>
          </a:xfrm>
          <a:prstGeom prst="rect">
            <a:avLst/>
          </a:prstGeom>
          <a:solidFill>
            <a:srgbClr val="4472C4"/>
          </a:solidFill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solidFill>
                  <a:srgbClr val="FFFFFF"/>
                </a:solidFill>
              </a:rPr>
              <a:t>Brush on color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7E38BD66-08D7-BF4E-21E0-1C0B9559344E}"/>
              </a:ext>
            </a:extLst>
          </p:cNvPr>
          <p:cNvSpPr/>
          <p:nvPr/>
        </p:nvSpPr>
        <p:spPr>
          <a:xfrm>
            <a:off x="508000" y="4191000"/>
            <a:ext cx="2540000" cy="1905000"/>
          </a:xfrm>
          <a:prstGeom prst="rect">
            <a:avLst/>
          </a:prstGeom>
          <a:solidFill>
            <a:srgbClr val="4472C4"/>
          </a:solidFill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solidFill>
                  <a:srgbClr val="FFFFFF"/>
                </a:solidFill>
              </a:rPr>
              <a:t>Color blend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083DD1BC-9A77-25EF-D964-D4B10E5C2625}"/>
              </a:ext>
            </a:extLst>
          </p:cNvPr>
          <p:cNvSpPr/>
          <p:nvPr/>
        </p:nvSpPr>
        <p:spPr>
          <a:xfrm>
            <a:off x="3365500" y="4191000"/>
            <a:ext cx="2540000" cy="1905000"/>
          </a:xfrm>
          <a:prstGeom prst="rect">
            <a:avLst/>
          </a:prstGeom>
          <a:solidFill>
            <a:srgbClr val="4472C4"/>
          </a:solidFill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solidFill>
                  <a:srgbClr val="FFFFFF"/>
                </a:solidFill>
              </a:rPr>
              <a:t>Complementary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85F59ED9-FEED-774E-D165-3A338730EBB0}"/>
              </a:ext>
            </a:extLst>
          </p:cNvPr>
          <p:cNvSpPr/>
          <p:nvPr/>
        </p:nvSpPr>
        <p:spPr>
          <a:xfrm>
            <a:off x="6223000" y="4191000"/>
            <a:ext cx="2540000" cy="1905000"/>
          </a:xfrm>
          <a:prstGeom prst="rect">
            <a:avLst/>
          </a:prstGeom>
          <a:solidFill>
            <a:srgbClr val="4472C4"/>
          </a:solidFill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solidFill>
                  <a:srgbClr val="FFFFFF"/>
                </a:solidFill>
              </a:rPr>
              <a:t>Contrasting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A19CEABF-4964-A947-0D08-E4BBD06F64B0}"/>
              </a:ext>
            </a:extLst>
          </p:cNvPr>
          <p:cNvSpPr/>
          <p:nvPr/>
        </p:nvSpPr>
        <p:spPr>
          <a:xfrm>
            <a:off x="9080500" y="4191000"/>
            <a:ext cx="2540000" cy="1905000"/>
          </a:xfrm>
          <a:prstGeom prst="rect">
            <a:avLst/>
          </a:prstGeom>
          <a:solidFill>
            <a:srgbClr val="4472C4"/>
          </a:solidFill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solidFill>
                  <a:srgbClr val="FFFFFF"/>
                </a:solidFill>
              </a:rPr>
              <a:t>Darken</a:t>
            </a:r>
          </a:p>
        </p:txBody>
      </p:sp>
    </p:spTree>
    <p:extLst>
      <p:ext uri="{BB962C8B-B14F-4D97-AF65-F5344CB8AC3E}">
        <p14:creationId xmlns:p14="http://schemas.microsoft.com/office/powerpoint/2010/main" val="41189625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6" dur="8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7" dur="8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8" dur="8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800"/>
                            </p:stCondLst>
                            <p:childTnLst>
                              <p:par>
                                <p:cTn id="10" presetID="3" presetClass="emph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" dur="8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600"/>
                            </p:stCondLst>
                            <p:childTnLst>
                              <p:par>
                                <p:cTn id="13" presetID="7" presetClass="emph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4" dur="8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15" dur="8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400"/>
                            </p:stCondLst>
                            <p:childTnLst>
                              <p:par>
                                <p:cTn id="17" presetID="16" presetClass="emph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18" dur="8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p:clrVal>
                                          <a:schemeClr val="accent2"/>
                                        </p:clrVal>
                                      </p:to>
                                    </p:set>
                                    <p:set>
                                      <p:cBhvr>
                                        <p:cTn id="19" dur="8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p:clrVal>
                                          <a:schemeClr val="accent2"/>
                                        </p:clrVal>
                                      </p:to>
                                    </p:set>
                                    <p:set>
                                      <p:cBhvr>
                                        <p:cTn id="20" dur="8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552"/>
                            </p:stCondLst>
                            <p:childTnLst>
                              <p:par>
                                <p:cTn id="22" presetID="19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3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animClr clrSpc="rgb" dir="cw">
                                      <p:cBhvr>
                                        <p:cTn id="24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25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6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4352"/>
                            </p:stCondLst>
                            <p:childTnLst>
                              <p:par>
                                <p:cTn id="28" presetID="21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29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30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31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32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152"/>
                            </p:stCondLst>
                            <p:childTnLst>
                              <p:par>
                                <p:cTn id="34" presetID="23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35" dur="8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10842353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36" dur="8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10842353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37" dur="8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10842353" s="0" l="0"/>
                                      </p:by>
                                    </p:animClr>
                                    <p:set>
                                      <p:cBhvr>
                                        <p:cTn id="38" dur="8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952"/>
                            </p:stCondLst>
                            <p:childTnLst>
                              <p:par>
                                <p:cTn id="40" presetID="24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41" dur="8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42" dur="8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43" dur="8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44" dur="8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C9B7C06-91AF-5C48-E190-D889386F0A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Emphasis: more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D159543-1786-0249-6496-D43AE221768D}"/>
              </a:ext>
            </a:extLst>
          </p:cNvPr>
          <p:cNvSpPr/>
          <p:nvPr/>
        </p:nvSpPr>
        <p:spPr>
          <a:xfrm>
            <a:off x="508000" y="1778000"/>
            <a:ext cx="2540000" cy="1905000"/>
          </a:xfrm>
          <a:prstGeom prst="rect">
            <a:avLst/>
          </a:prstGeom>
          <a:solidFill>
            <a:srgbClr val="4472C4"/>
          </a:solidFill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solidFill>
                  <a:srgbClr val="FFFFFF"/>
                </a:solidFill>
              </a:rPr>
              <a:t>Desaturate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0798CC4-3A8C-EA36-B3E8-EB77D63DF978}"/>
              </a:ext>
            </a:extLst>
          </p:cNvPr>
          <p:cNvSpPr/>
          <p:nvPr/>
        </p:nvSpPr>
        <p:spPr>
          <a:xfrm>
            <a:off x="3365500" y="1778000"/>
            <a:ext cx="2540000" cy="1905000"/>
          </a:xfrm>
          <a:prstGeom prst="rect">
            <a:avLst/>
          </a:prstGeom>
          <a:solidFill>
            <a:srgbClr val="4472C4"/>
          </a:solidFill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solidFill>
                  <a:srgbClr val="FFFFFF"/>
                </a:solidFill>
              </a:rPr>
              <a:t>Flash bulb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FCA4D83A-4558-4B3E-FD2D-E843A751A781}"/>
              </a:ext>
            </a:extLst>
          </p:cNvPr>
          <p:cNvSpPr/>
          <p:nvPr/>
        </p:nvSpPr>
        <p:spPr>
          <a:xfrm>
            <a:off x="6223000" y="1778000"/>
            <a:ext cx="2540000" cy="1905000"/>
          </a:xfrm>
          <a:prstGeom prst="rect">
            <a:avLst/>
          </a:prstGeom>
          <a:solidFill>
            <a:srgbClr val="4472C4"/>
          </a:solidFill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solidFill>
                  <a:srgbClr val="FFFFFF"/>
                </a:solidFill>
              </a:rPr>
              <a:t>Flicker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E5608DE3-FA85-6F0B-69A7-857C9FB393A3}"/>
              </a:ext>
            </a:extLst>
          </p:cNvPr>
          <p:cNvSpPr/>
          <p:nvPr/>
        </p:nvSpPr>
        <p:spPr>
          <a:xfrm>
            <a:off x="9080500" y="1778000"/>
            <a:ext cx="2540000" cy="1905000"/>
          </a:xfrm>
          <a:prstGeom prst="rect">
            <a:avLst/>
          </a:prstGeom>
          <a:solidFill>
            <a:srgbClr val="4472C4"/>
          </a:solidFill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solidFill>
                  <a:srgbClr val="FFFFFF"/>
                </a:solidFill>
              </a:rPr>
              <a:t>Grow with color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A52B420-ACAB-9F46-A460-3BB53309BCE7}"/>
              </a:ext>
            </a:extLst>
          </p:cNvPr>
          <p:cNvSpPr/>
          <p:nvPr/>
        </p:nvSpPr>
        <p:spPr>
          <a:xfrm>
            <a:off x="508000" y="4191000"/>
            <a:ext cx="2540000" cy="1905000"/>
          </a:xfrm>
          <a:prstGeom prst="rect">
            <a:avLst/>
          </a:prstGeom>
          <a:solidFill>
            <a:srgbClr val="4472C4"/>
          </a:solidFill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solidFill>
                  <a:srgbClr val="FFFFFF"/>
                </a:solidFill>
              </a:rPr>
              <a:t>Lighten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9C09C744-9309-45BD-F986-9990EDC30CA9}"/>
              </a:ext>
            </a:extLst>
          </p:cNvPr>
          <p:cNvSpPr/>
          <p:nvPr/>
        </p:nvSpPr>
        <p:spPr>
          <a:xfrm>
            <a:off x="3365500" y="4191000"/>
            <a:ext cx="2540000" cy="1905000"/>
          </a:xfrm>
          <a:prstGeom prst="rect">
            <a:avLst/>
          </a:prstGeom>
          <a:solidFill>
            <a:srgbClr val="4472C4"/>
          </a:solidFill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solidFill>
                  <a:srgbClr val="FFFFFF"/>
                </a:solidFill>
              </a:rPr>
              <a:t>Teeter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2192D7E2-DE76-80CF-3515-5A07F9261C99}"/>
              </a:ext>
            </a:extLst>
          </p:cNvPr>
          <p:cNvSpPr/>
          <p:nvPr/>
        </p:nvSpPr>
        <p:spPr>
          <a:xfrm>
            <a:off x="6223000" y="4191000"/>
            <a:ext cx="2540000" cy="1905000"/>
          </a:xfrm>
          <a:prstGeom prst="rect">
            <a:avLst/>
          </a:prstGeom>
          <a:solidFill>
            <a:srgbClr val="4472C4"/>
          </a:solidFill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solidFill>
                  <a:srgbClr val="FFFFFF"/>
                </a:solidFill>
              </a:rPr>
              <a:t>Vertical grow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47112380-1B6C-4E9F-3203-3B2A617B7BF1}"/>
              </a:ext>
            </a:extLst>
          </p:cNvPr>
          <p:cNvSpPr/>
          <p:nvPr/>
        </p:nvSpPr>
        <p:spPr>
          <a:xfrm>
            <a:off x="9080500" y="4191000"/>
            <a:ext cx="2540000" cy="1905000"/>
          </a:xfrm>
          <a:prstGeom prst="rect">
            <a:avLst/>
          </a:prstGeom>
          <a:solidFill>
            <a:srgbClr val="4472C4"/>
          </a:solidFill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solidFill>
                  <a:srgbClr val="FFFFFF"/>
                </a:solidFill>
              </a:rPr>
              <a:t>Wave</a:t>
            </a:r>
          </a:p>
        </p:txBody>
      </p:sp>
    </p:spTree>
    <p:extLst>
      <p:ext uri="{BB962C8B-B14F-4D97-AF65-F5344CB8AC3E}">
        <p14:creationId xmlns:p14="http://schemas.microsoft.com/office/powerpoint/2010/main" val="1191454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5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" dur="8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70588" l="0"/>
                                      </p:by>
                                    </p:animClr>
                                    <p:animClr clrSpc="hsl" dir="cw">
                                      <p:cBhvr>
                                        <p:cTn id="7" dur="8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70588" l="0"/>
                                      </p:by>
                                    </p:animClr>
                                    <p:animClr clrSpc="hsl" dir="cw">
                                      <p:cBhvr>
                                        <p:cTn id="8" dur="8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70588" l="0"/>
                                      </p:by>
                                    </p:animClr>
                                    <p:set>
                                      <p:cBhvr>
                                        <p:cTn id="9" dur="8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800"/>
                            </p:stCondLst>
                            <p:childTnLst>
                              <p:par>
                                <p:cTn id="11" presetID="2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800" tmFilter="0, 0; .2, .5; .8, .5; 1, 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400" autoRev="1" fill="hold"/>
                                        <p:tgtEl>
                                          <p:spTgt spid="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600"/>
                            </p:stCondLst>
                            <p:childTnLst>
                              <p:par>
                                <p:cTn id="15" presetID="27" presetClass="emph" presetSubtype="0" fill="remove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400" autoRev="1" fill="remove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17" dur="400" autoRev="1" fill="remove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8" dur="400" autoRev="1" fill="remove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9" dur="400" autoRev="1" fill="remove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400"/>
                            </p:stCondLst>
                            <p:childTnLst>
                              <p:par>
                                <p:cTn id="21" presetID="28" presetClass="emph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22" dur="8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animClr clrSpc="rgb" dir="cw">
                                      <p:cBhvr>
                                        <p:cTn id="23" dur="8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24" dur="8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anim to="1.5" calcmode="lin" valueType="num">
                                      <p:cBhvr override="childStyle">
                                        <p:cTn id="25" dur="8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style.fontSize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4160"/>
                            </p:stCondLst>
                            <p:childTnLst>
                              <p:par>
                                <p:cTn id="27" presetID="30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28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29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30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set>
                                      <p:cBhvr>
                                        <p:cTn id="31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960"/>
                            </p:stCondLst>
                            <p:childTnLst>
                              <p:par>
                                <p:cTn id="33" presetID="32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34" dur="8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35" dur="160" fill="hold">
                                          <p:stCondLst>
                                            <p:cond delay="16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36" dur="160" fill="hold">
                                          <p:stCondLst>
                                            <p:cond delay="32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37" dur="160" fill="hold">
                                          <p:stCondLst>
                                            <p:cond delay="48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38" dur="160" fill="hold">
                                          <p:stCondLst>
                                            <p:cond delay="64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760"/>
                            </p:stCondLst>
                            <p:childTnLst>
                              <p:par>
                                <p:cTn id="40" presetID="33" presetClass="emph" presetSubtype="0" fill="remove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1" dur="400" accel="50000" autoRev="1" fill="hold" tmFilter="0, 0; .33333, 1; 1, 1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animClr clrSpc="rgb" dir="cw">
                                      <p:cBhvr>
                                        <p:cTn id="42" dur="400" accel="50000" autoRev="1" fill="hold" tmFilter="0, 0; .33333, 1; 1, 1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43" dur="8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4" dur="8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  <p:animScale>
                                      <p:cBhvr>
                                        <p:cTn id="45" dur="400" accel="50000" autoRev="1" fill="hold" tmFilter="0, 0; .33333, 1; 1, 1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100000" y="14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6560"/>
                            </p:stCondLst>
                            <p:childTnLst>
                              <p:par>
                                <p:cTn id="47" presetID="34" presetClass="emph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animMotion origin="layout" path="M 0.0 0.0 L 0.0 -0.07213" pathEditMode="relative" ptsTypes="">
                                      <p:cBhvr>
                                        <p:cTn id="48" dur="400" accel="50000" decel="50000" autoRev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1500000">
                                      <p:cBhvr>
                                        <p:cTn id="49" dur="2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1500000">
                                      <p:cBhvr>
                                        <p:cTn id="50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1500000">
                                      <p:cBhvr>
                                        <p:cTn id="51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500000">
                                      <p:cBhvr>
                                        <p:cTn id="52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/>
      <p:bldP spid="7" grpId="0" animBg="1"/>
      <p:bldP spid="8" grpId="0" animBg="1"/>
      <p:bldP spid="9" grpId="0" animBg="1"/>
      <p:bldP spid="1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88BB735-E8E0-8A38-8954-75C63920E1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Exit effects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1B44FE1B-6D49-10BE-48A2-48B7DE30E951}"/>
              </a:ext>
            </a:extLst>
          </p:cNvPr>
          <p:cNvSpPr/>
          <p:nvPr/>
        </p:nvSpPr>
        <p:spPr>
          <a:xfrm>
            <a:off x="508000" y="1778000"/>
            <a:ext cx="2540000" cy="1905000"/>
          </a:xfrm>
          <a:prstGeom prst="rect">
            <a:avLst/>
          </a:prstGeom>
          <a:solidFill>
            <a:srgbClr val="4472C4"/>
          </a:solidFill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solidFill>
                  <a:srgbClr val="FFFFFF"/>
                </a:solidFill>
              </a:rPr>
              <a:t>Blinds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8565635C-5DA4-9EB4-0E3B-E32BBC34B57D}"/>
              </a:ext>
            </a:extLst>
          </p:cNvPr>
          <p:cNvSpPr/>
          <p:nvPr/>
        </p:nvSpPr>
        <p:spPr>
          <a:xfrm>
            <a:off x="3365500" y="1778000"/>
            <a:ext cx="2540000" cy="1905000"/>
          </a:xfrm>
          <a:prstGeom prst="rect">
            <a:avLst/>
          </a:prstGeom>
          <a:solidFill>
            <a:srgbClr val="4472C4"/>
          </a:solidFill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solidFill>
                  <a:srgbClr val="FFFFFF"/>
                </a:solidFill>
              </a:rPr>
              <a:t>Box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DB5C21B2-03A2-F713-8D84-0B18564E692C}"/>
              </a:ext>
            </a:extLst>
          </p:cNvPr>
          <p:cNvSpPr/>
          <p:nvPr/>
        </p:nvSpPr>
        <p:spPr>
          <a:xfrm>
            <a:off x="6223000" y="1778000"/>
            <a:ext cx="2540000" cy="1905000"/>
          </a:xfrm>
          <a:prstGeom prst="rect">
            <a:avLst/>
          </a:prstGeom>
          <a:solidFill>
            <a:srgbClr val="4472C4"/>
          </a:solidFill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solidFill>
                  <a:srgbClr val="FFFFFF"/>
                </a:solidFill>
              </a:rPr>
              <a:t>Circle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F2CCD42-3BD4-88B9-73BC-565C0594536E}"/>
              </a:ext>
            </a:extLst>
          </p:cNvPr>
          <p:cNvSpPr/>
          <p:nvPr/>
        </p:nvSpPr>
        <p:spPr>
          <a:xfrm>
            <a:off x="9080500" y="1778000"/>
            <a:ext cx="2540000" cy="1905000"/>
          </a:xfrm>
          <a:prstGeom prst="rect">
            <a:avLst/>
          </a:prstGeom>
          <a:solidFill>
            <a:srgbClr val="4472C4"/>
          </a:solidFill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solidFill>
                  <a:srgbClr val="FFFFFF"/>
                </a:solidFill>
              </a:rPr>
              <a:t>Dissolve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B152EAA-A5BB-0F3B-20A6-70CB7651964B}"/>
              </a:ext>
            </a:extLst>
          </p:cNvPr>
          <p:cNvSpPr/>
          <p:nvPr/>
        </p:nvSpPr>
        <p:spPr>
          <a:xfrm>
            <a:off x="508000" y="4191000"/>
            <a:ext cx="2540000" cy="1905000"/>
          </a:xfrm>
          <a:prstGeom prst="rect">
            <a:avLst/>
          </a:prstGeom>
          <a:solidFill>
            <a:srgbClr val="4472C4"/>
          </a:solidFill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solidFill>
                  <a:srgbClr val="FFFFFF"/>
                </a:solidFill>
              </a:rPr>
              <a:t>Peek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468812ED-3D65-1E68-5736-DBC148364941}"/>
              </a:ext>
            </a:extLst>
          </p:cNvPr>
          <p:cNvSpPr/>
          <p:nvPr/>
        </p:nvSpPr>
        <p:spPr>
          <a:xfrm>
            <a:off x="3365500" y="4191000"/>
            <a:ext cx="2540000" cy="1905000"/>
          </a:xfrm>
          <a:prstGeom prst="rect">
            <a:avLst/>
          </a:prstGeom>
          <a:solidFill>
            <a:srgbClr val="4472C4"/>
          </a:solidFill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solidFill>
                  <a:srgbClr val="FFFFFF"/>
                </a:solidFill>
              </a:rPr>
              <a:t>Split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E5E137A-892F-B9FA-4F86-AA3E10AC3E27}"/>
              </a:ext>
            </a:extLst>
          </p:cNvPr>
          <p:cNvSpPr/>
          <p:nvPr/>
        </p:nvSpPr>
        <p:spPr>
          <a:xfrm>
            <a:off x="6223000" y="4191000"/>
            <a:ext cx="2540000" cy="1905000"/>
          </a:xfrm>
          <a:prstGeom prst="rect">
            <a:avLst/>
          </a:prstGeom>
          <a:solidFill>
            <a:srgbClr val="4472C4"/>
          </a:solidFill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solidFill>
                  <a:srgbClr val="FFFFFF"/>
                </a:solidFill>
              </a:rPr>
              <a:t>Swivel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B1E7C2B1-2F85-5B1D-3707-A1322B67C4AC}"/>
              </a:ext>
            </a:extLst>
          </p:cNvPr>
          <p:cNvSpPr/>
          <p:nvPr/>
        </p:nvSpPr>
        <p:spPr>
          <a:xfrm>
            <a:off x="9080500" y="4191000"/>
            <a:ext cx="2540000" cy="1905000"/>
          </a:xfrm>
          <a:prstGeom prst="rect">
            <a:avLst/>
          </a:prstGeom>
          <a:solidFill>
            <a:srgbClr val="4472C4"/>
          </a:solidFill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solidFill>
                  <a:srgbClr val="FFFFFF"/>
                </a:solidFill>
              </a:rPr>
              <a:t>Zoom</a:t>
            </a:r>
          </a:p>
        </p:txBody>
      </p:sp>
    </p:spTree>
    <p:extLst>
      <p:ext uri="{BB962C8B-B14F-4D97-AF65-F5344CB8AC3E}">
        <p14:creationId xmlns:p14="http://schemas.microsoft.com/office/powerpoint/2010/main" val="9869653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xit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6" dur="8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800"/>
                            </p:stCondLst>
                            <p:childTnLst>
                              <p:par>
                                <p:cTn id="9" presetID="4" presetClass="exit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ox(in)">
                                      <p:cBhvr>
                                        <p:cTn id="10" dur="8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600"/>
                            </p:stCondLst>
                            <p:childTnLst>
                              <p:par>
                                <p:cTn id="13" presetID="6" presetClass="exit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ircle(in)">
                                      <p:cBhvr>
                                        <p:cTn id="14" dur="8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400"/>
                            </p:stCondLst>
                            <p:childTnLst>
                              <p:par>
                                <p:cTn id="17" presetID="9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8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200"/>
                            </p:stCondLst>
                            <p:childTnLst>
                              <p:par>
                                <p:cTn id="21" presetID="12" presetClass="exit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2" dur="8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#ppt_h*1.125000"/>
                                          </p:val>
                                        </p:tav>
                                      </p:tavLst>
                                    </p:anim>
                                    <p:animEffect transition="out" filter="wipe(down)">
                                      <p:cBhvr>
                                        <p:cTn id="23" dur="8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0"/>
                            </p:stCondLst>
                            <p:childTnLst>
                              <p:par>
                                <p:cTn id="26" presetID="16" presetClass="exit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arn(inVertical)">
                                      <p:cBhvr>
                                        <p:cTn id="27" dur="8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800"/>
                            </p:stCondLst>
                            <p:childTnLst>
                              <p:par>
                                <p:cTn id="30" presetID="19" presetClass="exit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1" dur="8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strVal val="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8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5000">
                                          <p:val>
                                            <p:strVal val="0.92*ppt_w"/>
                                          </p:val>
                                        </p:tav>
                                        <p:tav tm="10000">
                                          <p:val>
                                            <p:strVal val="0.71*ppt_w"/>
                                          </p:val>
                                        </p:tav>
                                        <p:tav tm="15000">
                                          <p:val>
                                            <p:strVal val="0.38*ppt_w"/>
                                          </p:val>
                                        </p:tav>
                                        <p:tav tm="20000">
                                          <p:val>
                                            <p:fltVal val="0"/>
                                          </p:val>
                                        </p:tav>
                                        <p:tav tm="25000">
                                          <p:val>
                                            <p:strVal val="-0.38*ppt_w"/>
                                          </p:val>
                                        </p:tav>
                                        <p:tav tm="30000">
                                          <p:val>
                                            <p:strVal val="-0.71*ppt_w"/>
                                          </p:val>
                                        </p:tav>
                                        <p:tav tm="35000">
                                          <p:val>
                                            <p:strVal val="-0.92*ppt_w"/>
                                          </p:val>
                                        </p:tav>
                                        <p:tav tm="40000">
                                          <p:val>
                                            <p:strVal val="-ppt_w"/>
                                          </p:val>
                                        </p:tav>
                                        <p:tav tm="45000">
                                          <p:val>
                                            <p:strVal val="-0.92*ppt_w"/>
                                          </p:val>
                                        </p:tav>
                                        <p:tav tm="50000">
                                          <p:val>
                                            <p:strVal val="-0.71*ppt_w"/>
                                          </p:val>
                                        </p:tav>
                                        <p:tav tm="55000">
                                          <p:val>
                                            <p:strVal val="-0.38*ppt_w"/>
                                          </p:val>
                                        </p:tav>
                                        <p:tav tm="6000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0.38*ppt_w"/>
                                          </p:val>
                                        </p:tav>
                                        <p:tav tm="70000">
                                          <p:val>
                                            <p:strVal val="0.71*ppt_w"/>
                                          </p:val>
                                        </p:tav>
                                        <p:tav tm="75000">
                                          <p:val>
                                            <p:strVal val="0.92*ppt_w"/>
                                          </p:val>
                                        </p:tav>
                                        <p:tav tm="80000">
                                          <p:val>
                                            <p:strVal val="ppt_w"/>
                                          </p:val>
                                        </p:tav>
                                        <p:tav tm="85000">
                                          <p:val>
                                            <p:strVal val="0.92*ppt_w"/>
                                          </p:val>
                                        </p:tav>
                                        <p:tav tm="90000">
                                          <p:val>
                                            <p:strVal val="0.71*ppt_w"/>
                                          </p:val>
                                        </p:tav>
                                        <p:tav tm="95000">
                                          <p:val>
                                            <p:strVal val="0.38*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600"/>
                            </p:stCondLst>
                            <p:childTnLst>
                              <p:par>
                                <p:cTn id="35" presetID="23" presetClass="exit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6" dur="8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strVal val="4*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8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strVal val="4*ppt_h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113</Words>
  <Application>Microsoft Office PowerPoint</Application>
  <PresentationFormat>Benutzerdefiniert</PresentationFormat>
  <Paragraphs>72</Paragraphs>
  <Slides>8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</vt:lpstr>
      <vt:lpstr>Entrance: shapes and bars</vt:lpstr>
      <vt:lpstr>Entrance: splits and turns</vt:lpstr>
      <vt:lpstr>Entrance: moderate</vt:lpstr>
      <vt:lpstr>Entrance: more</vt:lpstr>
      <vt:lpstr>Entrance: exciting</vt:lpstr>
      <vt:lpstr>Emphasis: color</vt:lpstr>
      <vt:lpstr>Emphasis: more</vt:lpstr>
      <vt:lpstr>Exit effects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Fidelity generator</dc:creator>
  <cp:lastModifiedBy>Fidelity generator</cp:lastModifiedBy>
  <cp:revision>1</cp:revision>
  <dcterms:created xsi:type="dcterms:W3CDTF">2026-10-09T04:02:29Z</dcterms:created>
  <dcterms:modified xsi:type="dcterms:W3CDTF">2026-10-09T04:02:29Z</dcterms:modified>
</cp:coreProperties>
</file>