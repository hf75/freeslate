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5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6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7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charts/chart18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charts/chart19.xml" ContentType="application/vnd.openxmlformats-officedocument.drawingml.chart+xml"/>
  <Override PartName="/ppt/charts/style17.xml" ContentType="application/vnd.ms-office.chartstyle+xml"/>
  <Override PartName="/ppt/charts/colors17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" d="100"/>
          <a:sy n="14" d="100"/>
        </p:scale>
        <p:origin x="426" y="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3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4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5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6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_rels/chart1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7.xlsx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_rels/chart1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8.xlsx"/><Relationship Id="rId2" Type="http://schemas.microsoft.com/office/2011/relationships/chartColorStyle" Target="colors17.xml"/><Relationship Id="rId1" Type="http://schemas.microsoft.com/office/2011/relationships/chartStyle" Target="style17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view3D>
      <c:rotX val="15"/>
      <c:rotY val="20"/>
      <c:depthPercent val="100"/>
      <c:rAngAx val="1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bar3DChart>
        <c:barDir val="col"/>
        <c:grouping val="clustere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Datenreihe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  <a:sp3d/>
          </c:spPr>
          <c:invertIfNegative val="0"/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271-4768-AC7F-996304029A21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Datenreihe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  <a:sp3d/>
          </c:spPr>
          <c:invertIfNegative val="0"/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271-4768-AC7F-996304029A21}"/>
            </c:ext>
          </c:extLst>
        </c:ser>
        <c:ser>
          <c:idx val="2"/>
          <c:order val="2"/>
          <c:tx>
            <c:strRef>
              <c:f>Tabelle1!$D$1</c:f>
              <c:strCache>
                <c:ptCount val="1"/>
                <c:pt idx="0">
                  <c:v>Datenreihe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  <a:sp3d/>
          </c:spPr>
          <c:invertIfNegative val="0"/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5271-4768-AC7F-996304029A2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shape val="box"/>
        <c:axId val="1304832528"/>
        <c:axId val="1466078575"/>
        <c:axId val="0"/>
      </c:bar3DChart>
      <c:catAx>
        <c:axId val="130483252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466078575"/>
        <c:crosses val="autoZero"/>
        <c:auto val="1"/>
        <c:lblAlgn val="ctr"/>
        <c:lblOffset val="100"/>
        <c:noMultiLvlLbl val="0"/>
      </c:catAx>
      <c:valAx>
        <c:axId val="146607857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0483252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view3D>
      <c:rotX val="15"/>
      <c:rotY val="20"/>
      <c:depthPercent val="100"/>
      <c:rAngAx val="1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bar3DChart>
        <c:barDir val="col"/>
        <c:grouping val="stacke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Datenreihe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  <a:sp3d/>
          </c:spPr>
          <c:invertIfNegative val="0"/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078-4C9B-9B68-D47425EA5238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Datenreihe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  <a:sp3d/>
          </c:spPr>
          <c:invertIfNegative val="0"/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078-4C9B-9B68-D47425EA5238}"/>
            </c:ext>
          </c:extLst>
        </c:ser>
        <c:ser>
          <c:idx val="2"/>
          <c:order val="2"/>
          <c:tx>
            <c:strRef>
              <c:f>Tabelle1!$D$1</c:f>
              <c:strCache>
                <c:ptCount val="1"/>
                <c:pt idx="0">
                  <c:v>Datenreihe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  <a:sp3d/>
          </c:spPr>
          <c:invertIfNegative val="0"/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078-4C9B-9B68-D47425EA523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shape val="box"/>
        <c:axId val="1471695327"/>
        <c:axId val="1465950415"/>
        <c:axId val="0"/>
      </c:bar3DChart>
      <c:catAx>
        <c:axId val="147169532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465950415"/>
        <c:crosses val="autoZero"/>
        <c:auto val="1"/>
        <c:lblAlgn val="ctr"/>
        <c:lblOffset val="100"/>
        <c:noMultiLvlLbl val="0"/>
      </c:catAx>
      <c:valAx>
        <c:axId val="146595041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47169532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view3D>
      <c:rotX val="15"/>
      <c:rotY val="20"/>
      <c:depthPercent val="100"/>
      <c:rAngAx val="1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bar3DChart>
        <c:barDir val="col"/>
        <c:grouping val="percentStacke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Datenreihe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  <a:sp3d/>
          </c:spPr>
          <c:invertIfNegative val="0"/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234-4975-9A48-FB779427741B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Datenreihe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  <a:sp3d/>
          </c:spPr>
          <c:invertIfNegative val="0"/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234-4975-9A48-FB779427741B}"/>
            </c:ext>
          </c:extLst>
        </c:ser>
        <c:ser>
          <c:idx val="2"/>
          <c:order val="2"/>
          <c:tx>
            <c:strRef>
              <c:f>Tabelle1!$D$1</c:f>
              <c:strCache>
                <c:ptCount val="1"/>
                <c:pt idx="0">
                  <c:v>Datenreihe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  <a:sp3d/>
          </c:spPr>
          <c:invertIfNegative val="0"/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E234-4975-9A48-FB779427741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shape val="box"/>
        <c:axId val="1343651936"/>
        <c:axId val="1465969615"/>
        <c:axId val="0"/>
      </c:bar3DChart>
      <c:catAx>
        <c:axId val="134365193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465969615"/>
        <c:crosses val="autoZero"/>
        <c:auto val="1"/>
        <c:lblAlgn val="ctr"/>
        <c:lblOffset val="100"/>
        <c:noMultiLvlLbl val="0"/>
      </c:catAx>
      <c:valAx>
        <c:axId val="146596961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4365193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view3D>
      <c:rotX val="15"/>
      <c:rotY val="20"/>
      <c:depthPercent val="100"/>
      <c:rAngAx val="1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bar3DChart>
        <c:barDir val="col"/>
        <c:grouping val="standar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Datenreihe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  <a:sp3d/>
          </c:spPr>
          <c:invertIfNegative val="0"/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38A-4B23-A086-B11F3E2C1FE9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Datenreihe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  <a:sp3d/>
          </c:spPr>
          <c:invertIfNegative val="0"/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38A-4B23-A086-B11F3E2C1FE9}"/>
            </c:ext>
          </c:extLst>
        </c:ser>
        <c:ser>
          <c:idx val="2"/>
          <c:order val="2"/>
          <c:tx>
            <c:strRef>
              <c:f>Tabelle1!$D$1</c:f>
              <c:strCache>
                <c:ptCount val="1"/>
                <c:pt idx="0">
                  <c:v>Datenreihe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  <a:sp3d/>
          </c:spPr>
          <c:invertIfNegative val="0"/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38A-4B23-A086-B11F3E2C1FE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shape val="box"/>
        <c:axId val="1343654720"/>
        <c:axId val="1465995535"/>
        <c:axId val="1307042640"/>
      </c:bar3DChart>
      <c:catAx>
        <c:axId val="13436547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465995535"/>
        <c:crosses val="autoZero"/>
        <c:auto val="1"/>
        <c:lblAlgn val="ctr"/>
        <c:lblOffset val="100"/>
        <c:noMultiLvlLbl val="0"/>
      </c:catAx>
      <c:valAx>
        <c:axId val="146599553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43654720"/>
        <c:crosses val="autoZero"/>
        <c:crossBetween val="between"/>
      </c:valAx>
      <c:serAx>
        <c:axId val="1307042640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465995535"/>
        <c:crosses val="autoZero"/>
      </c:ser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view3D>
      <c:rotX val="15"/>
      <c:rotY val="20"/>
      <c:depthPercent val="100"/>
      <c:rAngAx val="1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bar3DChart>
        <c:barDir val="bar"/>
        <c:grouping val="clustere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Datenreihe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  <a:sp3d/>
          </c:spPr>
          <c:invertIfNegative val="0"/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EF2-4C6F-AF84-2FFE8EA418C0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Datenreihe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  <a:sp3d/>
          </c:spPr>
          <c:invertIfNegative val="0"/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EF2-4C6F-AF84-2FFE8EA418C0}"/>
            </c:ext>
          </c:extLst>
        </c:ser>
        <c:ser>
          <c:idx val="2"/>
          <c:order val="2"/>
          <c:tx>
            <c:strRef>
              <c:f>Tabelle1!$D$1</c:f>
              <c:strCache>
                <c:ptCount val="1"/>
                <c:pt idx="0">
                  <c:v>Datenreihe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  <a:sp3d/>
          </c:spPr>
          <c:invertIfNegative val="0"/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5EF2-4C6F-AF84-2FFE8EA418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shape val="box"/>
        <c:axId val="1343667248"/>
        <c:axId val="1465987855"/>
        <c:axId val="0"/>
      </c:bar3DChart>
      <c:catAx>
        <c:axId val="134366724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465987855"/>
        <c:crosses val="autoZero"/>
        <c:auto val="1"/>
        <c:lblAlgn val="ctr"/>
        <c:lblOffset val="100"/>
        <c:noMultiLvlLbl val="0"/>
      </c:catAx>
      <c:valAx>
        <c:axId val="1465987855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4366724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view3D>
      <c:rotX val="15"/>
      <c:rotY val="20"/>
      <c:depthPercent val="100"/>
      <c:rAngAx val="1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bar3DChart>
        <c:barDir val="bar"/>
        <c:grouping val="stacke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Datenreihe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  <a:sp3d/>
          </c:spPr>
          <c:invertIfNegative val="0"/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F01-4F6D-9FDB-B79860DBE9D9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Datenreihe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  <a:sp3d/>
          </c:spPr>
          <c:invertIfNegative val="0"/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F01-4F6D-9FDB-B79860DBE9D9}"/>
            </c:ext>
          </c:extLst>
        </c:ser>
        <c:ser>
          <c:idx val="2"/>
          <c:order val="2"/>
          <c:tx>
            <c:strRef>
              <c:f>Tabelle1!$D$1</c:f>
              <c:strCache>
                <c:ptCount val="1"/>
                <c:pt idx="0">
                  <c:v>Datenreihe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  <a:sp3d/>
          </c:spPr>
          <c:invertIfNegative val="0"/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EF01-4F6D-9FDB-B79860DBE9D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shape val="box"/>
        <c:axId val="1471686975"/>
        <c:axId val="1466032495"/>
        <c:axId val="0"/>
      </c:bar3DChart>
      <c:catAx>
        <c:axId val="1471686975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466032495"/>
        <c:crosses val="autoZero"/>
        <c:auto val="1"/>
        <c:lblAlgn val="ctr"/>
        <c:lblOffset val="100"/>
        <c:noMultiLvlLbl val="0"/>
      </c:catAx>
      <c:valAx>
        <c:axId val="1466032495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47168697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pie3DChart>
        <c:varyColors val="1"/>
        <c:ser>
          <c:idx val="0"/>
          <c:order val="0"/>
          <c:tx>
            <c:strRef>
              <c:f>Tabelle1!$B$1</c:f>
              <c:strCache>
                <c:ptCount val="1"/>
                <c:pt idx="0">
                  <c:v>Verkauf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</c:dPt>
          <c:cat>
            <c:strRef>
              <c:f>Tabelle1!$A$2:$A$5</c:f>
              <c:strCache>
                <c:ptCount val="4"/>
                <c:pt idx="0">
                  <c:v>1. Quartal</c:v>
                </c:pt>
                <c:pt idx="1">
                  <c:v>2. Quartal</c:v>
                </c:pt>
                <c:pt idx="2">
                  <c:v>3. Quartal</c:v>
                </c:pt>
                <c:pt idx="3">
                  <c:v>4. Quartal</c:v>
                </c:pt>
              </c:strCache>
            </c:strRef>
          </c:cat>
          <c:val>
            <c:numRef>
              <c:f>Tabelle1!$B$2:$B$5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554-4299-A77E-A07009D57B6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pie3DChart>
        <c:varyColors val="1"/>
        <c:ser>
          <c:idx val="0"/>
          <c:order val="0"/>
          <c:tx>
            <c:strRef>
              <c:f>Tabelle1!$B$1</c:f>
              <c:strCache>
                <c:ptCount val="1"/>
                <c:pt idx="0">
                  <c:v>Verkauf</c:v>
                </c:pt>
              </c:strCache>
            </c:strRef>
          </c:tx>
          <c:explosion val="25"/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</c:dPt>
          <c:cat>
            <c:strRef>
              <c:f>Tabelle1!$A$2:$A$5</c:f>
              <c:strCache>
                <c:ptCount val="4"/>
                <c:pt idx="0">
                  <c:v>1. Quartal</c:v>
                </c:pt>
                <c:pt idx="1">
                  <c:v>2. Quartal</c:v>
                </c:pt>
                <c:pt idx="2">
                  <c:v>3. Quartal</c:v>
                </c:pt>
                <c:pt idx="3">
                  <c:v>4. Quartal</c:v>
                </c:pt>
              </c:strCache>
            </c:strRef>
          </c:cat>
          <c:val>
            <c:numRef>
              <c:f>Tabelle1!$B$2:$B$5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734-4E0F-AD5A-0A54AFEDEF3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view3D>
      <c:rotX val="15"/>
      <c:rotY val="20"/>
      <c:depthPercent val="100"/>
      <c:rAngAx val="0"/>
    </c:view3D>
    <c:floor>
      <c:thickness val="0"/>
      <c:spPr>
        <a:noFill/>
        <a:ln w="9525" cap="flat" cmpd="sng" algn="ctr">
          <a:solidFill>
            <a:schemeClr val="tx1">
              <a:lumMod val="15000"/>
              <a:lumOff val="85000"/>
            </a:schemeClr>
          </a:solidFill>
          <a:round/>
        </a:ln>
        <a:effectLst/>
        <a:sp3d contourW="9525">
          <a:contourClr>
            <a:schemeClr val="tx1">
              <a:lumMod val="15000"/>
              <a:lumOff val="85000"/>
            </a:schemeClr>
          </a:contourClr>
        </a:sp3d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area3DChart>
        <c:grouping val="standar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Datenreihe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  <a:sp3d/>
          </c:spPr>
          <c:cat>
            <c:numRef>
              <c:f>Tabelle1!$A$2:$A$6</c:f>
              <c:numCache>
                <c:formatCode>m/d/yyyy</c:formatCode>
                <c:ptCount val="5"/>
                <c:pt idx="0">
                  <c:v>37377</c:v>
                </c:pt>
                <c:pt idx="1">
                  <c:v>37408</c:v>
                </c:pt>
                <c:pt idx="2">
                  <c:v>37438</c:v>
                </c:pt>
                <c:pt idx="3">
                  <c:v>37469</c:v>
                </c:pt>
                <c:pt idx="4">
                  <c:v>37500</c:v>
                </c:pt>
              </c:numCache>
            </c:numRef>
          </c:cat>
          <c:val>
            <c:numRef>
              <c:f>Tabelle1!$B$2:$B$6</c:f>
              <c:numCache>
                <c:formatCode>General</c:formatCode>
                <c:ptCount val="5"/>
                <c:pt idx="0">
                  <c:v>32</c:v>
                </c:pt>
                <c:pt idx="1">
                  <c:v>32</c:v>
                </c:pt>
                <c:pt idx="2">
                  <c:v>28</c:v>
                </c:pt>
                <c:pt idx="3">
                  <c:v>12</c:v>
                </c:pt>
                <c:pt idx="4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8A0-4DD8-8F0C-E4123E686647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Datenreihe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  <a:sp3d/>
          </c:spPr>
          <c:cat>
            <c:numRef>
              <c:f>Tabelle1!$A$2:$A$6</c:f>
              <c:numCache>
                <c:formatCode>m/d/yyyy</c:formatCode>
                <c:ptCount val="5"/>
                <c:pt idx="0">
                  <c:v>37377</c:v>
                </c:pt>
                <c:pt idx="1">
                  <c:v>37408</c:v>
                </c:pt>
                <c:pt idx="2">
                  <c:v>37438</c:v>
                </c:pt>
                <c:pt idx="3">
                  <c:v>37469</c:v>
                </c:pt>
                <c:pt idx="4">
                  <c:v>37500</c:v>
                </c:pt>
              </c:numCache>
            </c:numRef>
          </c:cat>
          <c:val>
            <c:numRef>
              <c:f>Tabelle1!$C$2:$C$6</c:f>
              <c:numCache>
                <c:formatCode>General</c:formatCode>
                <c:ptCount val="5"/>
                <c:pt idx="0">
                  <c:v>12</c:v>
                </c:pt>
                <c:pt idx="1">
                  <c:v>12</c:v>
                </c:pt>
                <c:pt idx="2">
                  <c:v>12</c:v>
                </c:pt>
                <c:pt idx="3">
                  <c:v>21</c:v>
                </c:pt>
                <c:pt idx="4">
                  <c:v>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8A0-4DD8-8F0C-E4123E68664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471679551"/>
        <c:axId val="1466057935"/>
        <c:axId val="1307038720"/>
      </c:area3DChart>
      <c:dateAx>
        <c:axId val="1471679551"/>
        <c:scaling>
          <c:orientation val="minMax"/>
        </c:scaling>
        <c:delete val="0"/>
        <c:axPos val="b"/>
        <c:numFmt formatCode="m/d/yyyy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466057935"/>
        <c:crosses val="autoZero"/>
        <c:auto val="1"/>
        <c:lblOffset val="100"/>
        <c:baseTimeUnit val="months"/>
      </c:dateAx>
      <c:valAx>
        <c:axId val="146605793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471679551"/>
        <c:crosses val="autoZero"/>
        <c:crossBetween val="midCat"/>
      </c:valAx>
      <c:serAx>
        <c:axId val="1307038720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466057935"/>
        <c:crosses val="autoZero"/>
      </c:ser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zero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view3D>
      <c:rotX val="15"/>
      <c:rotY val="20"/>
      <c:depthPercent val="100"/>
      <c:rAngAx val="0"/>
    </c:view3D>
    <c:floor>
      <c:thickness val="0"/>
      <c:spPr>
        <a:noFill/>
        <a:ln w="9525" cap="flat" cmpd="sng" algn="ctr">
          <a:solidFill>
            <a:schemeClr val="tx1">
              <a:lumMod val="15000"/>
              <a:lumOff val="85000"/>
            </a:schemeClr>
          </a:solidFill>
          <a:round/>
        </a:ln>
        <a:effectLst/>
        <a:sp3d contourW="9525">
          <a:contourClr>
            <a:schemeClr val="tx1">
              <a:lumMod val="15000"/>
              <a:lumOff val="85000"/>
            </a:schemeClr>
          </a:contourClr>
        </a:sp3d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area3DChart>
        <c:grouping val="stacke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Datenreihe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  <a:sp3d/>
          </c:spPr>
          <c:cat>
            <c:numRef>
              <c:f>Tabelle1!$A$2:$A$6</c:f>
              <c:numCache>
                <c:formatCode>m/d/yyyy</c:formatCode>
                <c:ptCount val="5"/>
                <c:pt idx="0">
                  <c:v>37377</c:v>
                </c:pt>
                <c:pt idx="1">
                  <c:v>37408</c:v>
                </c:pt>
                <c:pt idx="2">
                  <c:v>37438</c:v>
                </c:pt>
                <c:pt idx="3">
                  <c:v>37469</c:v>
                </c:pt>
                <c:pt idx="4">
                  <c:v>37500</c:v>
                </c:pt>
              </c:numCache>
            </c:numRef>
          </c:cat>
          <c:val>
            <c:numRef>
              <c:f>Tabelle1!$B$2:$B$6</c:f>
              <c:numCache>
                <c:formatCode>General</c:formatCode>
                <c:ptCount val="5"/>
                <c:pt idx="0">
                  <c:v>32</c:v>
                </c:pt>
                <c:pt idx="1">
                  <c:v>32</c:v>
                </c:pt>
                <c:pt idx="2">
                  <c:v>28</c:v>
                </c:pt>
                <c:pt idx="3">
                  <c:v>12</c:v>
                </c:pt>
                <c:pt idx="4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D40-46AF-A587-1778E5E49BB0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Datenreihe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  <a:sp3d/>
          </c:spPr>
          <c:cat>
            <c:numRef>
              <c:f>Tabelle1!$A$2:$A$6</c:f>
              <c:numCache>
                <c:formatCode>m/d/yyyy</c:formatCode>
                <c:ptCount val="5"/>
                <c:pt idx="0">
                  <c:v>37377</c:v>
                </c:pt>
                <c:pt idx="1">
                  <c:v>37408</c:v>
                </c:pt>
                <c:pt idx="2">
                  <c:v>37438</c:v>
                </c:pt>
                <c:pt idx="3">
                  <c:v>37469</c:v>
                </c:pt>
                <c:pt idx="4">
                  <c:v>37500</c:v>
                </c:pt>
              </c:numCache>
            </c:numRef>
          </c:cat>
          <c:val>
            <c:numRef>
              <c:f>Tabelle1!$C$2:$C$6</c:f>
              <c:numCache>
                <c:formatCode>General</c:formatCode>
                <c:ptCount val="5"/>
                <c:pt idx="0">
                  <c:v>12</c:v>
                </c:pt>
                <c:pt idx="1">
                  <c:v>12</c:v>
                </c:pt>
                <c:pt idx="2">
                  <c:v>12</c:v>
                </c:pt>
                <c:pt idx="3">
                  <c:v>21</c:v>
                </c:pt>
                <c:pt idx="4">
                  <c:v>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D40-46AF-A587-1778E5E49BB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296336864"/>
        <c:axId val="1466064655"/>
        <c:axId val="0"/>
      </c:area3DChart>
      <c:dateAx>
        <c:axId val="1296336864"/>
        <c:scaling>
          <c:orientation val="minMax"/>
        </c:scaling>
        <c:delete val="0"/>
        <c:axPos val="b"/>
        <c:numFmt formatCode="m/d/yyyy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466064655"/>
        <c:crosses val="autoZero"/>
        <c:auto val="1"/>
        <c:lblOffset val="100"/>
        <c:baseTimeUnit val="months"/>
      </c:dateAx>
      <c:valAx>
        <c:axId val="146606465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296336864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zero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view3D>
      <c:rotX val="15"/>
      <c:rotY val="2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line3DChart>
        <c:grouping val="standar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Datenreihe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  <a:sp3d/>
          </c:spPr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B3D-42A7-8D18-61F27233B163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Datenreihe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  <a:sp3d/>
          </c:spPr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B3D-42A7-8D18-61F27233B163}"/>
            </c:ext>
          </c:extLst>
        </c:ser>
        <c:ser>
          <c:idx val="2"/>
          <c:order val="2"/>
          <c:tx>
            <c:strRef>
              <c:f>Tabelle1!$D$1</c:f>
              <c:strCache>
                <c:ptCount val="1"/>
                <c:pt idx="0">
                  <c:v>Datenreihe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  <a:sp3d/>
          </c:spPr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5B3D-42A7-8D18-61F27233B1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796764544"/>
        <c:axId val="1466058895"/>
        <c:axId val="1307043200"/>
      </c:line3DChart>
      <c:catAx>
        <c:axId val="79676454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466058895"/>
        <c:crosses val="autoZero"/>
        <c:auto val="1"/>
        <c:lblAlgn val="ctr"/>
        <c:lblOffset val="100"/>
        <c:noMultiLvlLbl val="0"/>
      </c:catAx>
      <c:valAx>
        <c:axId val="146605889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796764544"/>
        <c:crosses val="autoZero"/>
        <c:crossBetween val="between"/>
      </c:valAx>
      <c:serAx>
        <c:axId val="1307043200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466058895"/>
        <c:crosses val="autoZero"/>
      </c:ser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view3D>
      <c:rotX val="15"/>
      <c:rotY val="2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surface3DChart>
        <c:wireframe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Datenreihe 1</c:v>
                </c:pt>
              </c:strCache>
            </c:strRef>
          </c:tx>
          <c:spPr>
            <a:solidFill>
              <a:schemeClr val="accent1"/>
            </a:solidFill>
            <a:ln/>
            <a:effectLst/>
            <a:sp3d/>
          </c:spPr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07D-4FFC-8309-464798BD04D2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Datenreihe 2</c:v>
                </c:pt>
              </c:strCache>
            </c:strRef>
          </c:tx>
          <c:spPr>
            <a:solidFill>
              <a:schemeClr val="accent2"/>
            </a:solidFill>
            <a:ln/>
            <a:effectLst/>
            <a:sp3d/>
          </c:spPr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07D-4FFC-8309-464798BD04D2}"/>
            </c:ext>
          </c:extLst>
        </c:ser>
        <c:ser>
          <c:idx val="2"/>
          <c:order val="2"/>
          <c:tx>
            <c:strRef>
              <c:f>Tabelle1!$D$1</c:f>
              <c:strCache>
                <c:ptCount val="1"/>
                <c:pt idx="0">
                  <c:v>Datenreihe 3</c:v>
                </c:pt>
              </c:strCache>
            </c:strRef>
          </c:tx>
          <c:spPr>
            <a:solidFill>
              <a:schemeClr val="accent3"/>
            </a:solidFill>
            <a:ln/>
            <a:effectLst/>
            <a:sp3d/>
          </c:spPr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107D-4FFC-8309-464798BD04D2}"/>
            </c:ext>
          </c:extLst>
        </c:ser>
        <c:bandFmts>
          <c:bandFmt>
            <c:idx val="0"/>
            <c:spPr>
              <a:solidFill>
                <a:schemeClr val="accent1"/>
              </a:solidFill>
              <a:ln/>
              <a:effectLst/>
              <a:sp3d/>
            </c:spPr>
          </c:bandFmt>
          <c:bandFmt>
            <c:idx val="1"/>
            <c:spPr>
              <a:solidFill>
                <a:schemeClr val="accent2"/>
              </a:solidFill>
              <a:ln/>
              <a:effectLst/>
              <a:sp3d/>
            </c:spPr>
          </c:bandFmt>
          <c:bandFmt>
            <c:idx val="2"/>
            <c:spPr>
              <a:solidFill>
                <a:schemeClr val="accent3"/>
              </a:solidFill>
              <a:ln/>
              <a:effectLst/>
              <a:sp3d/>
            </c:spPr>
          </c:bandFmt>
          <c:bandFmt>
            <c:idx val="3"/>
            <c:spPr>
              <a:solidFill>
                <a:schemeClr val="accent4"/>
              </a:solidFill>
              <a:ln/>
              <a:effectLst/>
              <a:sp3d/>
            </c:spPr>
          </c:bandFmt>
          <c:bandFmt>
            <c:idx val="4"/>
            <c:spPr>
              <a:solidFill>
                <a:schemeClr val="accent5"/>
              </a:solidFill>
              <a:ln/>
              <a:effectLst/>
              <a:sp3d/>
            </c:spPr>
          </c:bandFmt>
          <c:bandFmt>
            <c:idx val="5"/>
            <c:spPr>
              <a:solidFill>
                <a:schemeClr val="accent6"/>
              </a:solidFill>
              <a:ln/>
              <a:effectLst/>
              <a:sp3d/>
            </c:spPr>
          </c:bandFmt>
          <c:bandFmt>
            <c:idx val="6"/>
            <c:spPr>
              <a:solidFill>
                <a:schemeClr val="accent1">
                  <a:lumMod val="60000"/>
                </a:schemeClr>
              </a:solidFill>
              <a:ln/>
              <a:effectLst/>
              <a:sp3d/>
            </c:spPr>
          </c:bandFmt>
          <c:bandFmt>
            <c:idx val="7"/>
            <c:spPr>
              <a:solidFill>
                <a:schemeClr val="accent2">
                  <a:lumMod val="60000"/>
                </a:schemeClr>
              </a:solidFill>
              <a:ln/>
              <a:effectLst/>
              <a:sp3d/>
            </c:spPr>
          </c:bandFmt>
          <c:bandFmt>
            <c:idx val="8"/>
            <c:spPr>
              <a:solidFill>
                <a:schemeClr val="accent3">
                  <a:lumMod val="60000"/>
                </a:schemeClr>
              </a:solidFill>
              <a:ln/>
              <a:effectLst/>
              <a:sp3d/>
            </c:spPr>
          </c:bandFmt>
          <c:bandFmt>
            <c:idx val="9"/>
            <c:spPr>
              <a:solidFill>
                <a:schemeClr val="accent4">
                  <a:lumMod val="60000"/>
                </a:schemeClr>
              </a:solidFill>
              <a:ln/>
              <a:effectLst/>
              <a:sp3d/>
            </c:spPr>
          </c:bandFmt>
          <c:bandFmt>
            <c:idx val="10"/>
            <c:spPr>
              <a:solidFill>
                <a:schemeClr val="accent5">
                  <a:lumMod val="60000"/>
                </a:schemeClr>
              </a:solidFill>
              <a:ln/>
              <a:effectLst/>
              <a:sp3d/>
            </c:spPr>
          </c:bandFmt>
          <c:bandFmt>
            <c:idx val="11"/>
            <c:spPr>
              <a:solidFill>
                <a:schemeClr val="accent6">
                  <a:lumMod val="60000"/>
                </a:schemeClr>
              </a:solidFill>
              <a:ln/>
              <a:effectLst/>
              <a:sp3d/>
            </c:spPr>
          </c:bandFmt>
          <c:bandFmt>
            <c:idx val="12"/>
            <c:spPr>
              <a:solidFill>
                <a:schemeClr val="accent1">
                  <a:lumMod val="80000"/>
                  <a:lumOff val="20000"/>
                </a:schemeClr>
              </a:solidFill>
              <a:ln/>
              <a:effectLst/>
              <a:sp3d/>
            </c:spPr>
          </c:bandFmt>
          <c:bandFmt>
            <c:idx val="13"/>
            <c:spPr>
              <a:solidFill>
                <a:schemeClr val="accent2">
                  <a:lumMod val="80000"/>
                  <a:lumOff val="20000"/>
                </a:schemeClr>
              </a:solidFill>
              <a:ln/>
              <a:effectLst/>
              <a:sp3d/>
            </c:spPr>
          </c:bandFmt>
          <c:bandFmt>
            <c:idx val="14"/>
            <c:spPr>
              <a:solidFill>
                <a:schemeClr val="accent3">
                  <a:lumMod val="80000"/>
                  <a:lumOff val="20000"/>
                </a:schemeClr>
              </a:solidFill>
              <a:ln/>
              <a:effectLst/>
              <a:sp3d/>
            </c:spPr>
          </c:bandFmt>
        </c:bandFmts>
        <c:axId val="796768256"/>
        <c:axId val="1465956175"/>
        <c:axId val="1307037040"/>
      </c:surface3DChart>
      <c:catAx>
        <c:axId val="79676825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465956175"/>
        <c:crosses val="autoZero"/>
        <c:auto val="1"/>
        <c:lblAlgn val="ctr"/>
        <c:lblOffset val="100"/>
        <c:noMultiLvlLbl val="0"/>
      </c:catAx>
      <c:valAx>
        <c:axId val="146595617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796768256"/>
        <c:crosses val="autoZero"/>
        <c:crossBetween val="midCat"/>
      </c:valAx>
      <c:serAx>
        <c:axId val="1307037040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465956175"/>
        <c:crosses val="autoZero"/>
      </c:ser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zero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view3D>
      <c:rotX val="15"/>
      <c:rotY val="2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surface3DChart>
        <c:wireframe val="1"/>
        <c:ser>
          <c:idx val="0"/>
          <c:order val="0"/>
          <c:tx>
            <c:strRef>
              <c:f>Tabelle1!$B$1</c:f>
              <c:strCache>
                <c:ptCount val="1"/>
                <c:pt idx="0">
                  <c:v>Datenreihe 1</c:v>
                </c:pt>
              </c:strCache>
            </c:strRef>
          </c:tx>
          <c:spPr>
            <a:ln w="9525" cap="rnd">
              <a:solidFill>
                <a:schemeClr val="accent1"/>
              </a:solidFill>
              <a:round/>
            </a:ln>
            <a:effectLst/>
          </c:spPr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B41-4D20-B41B-7B9A7CC8062D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Datenreihe 2</c:v>
                </c:pt>
              </c:strCache>
            </c:strRef>
          </c:tx>
          <c:spPr>
            <a:ln w="9525" cap="rnd">
              <a:solidFill>
                <a:schemeClr val="accent2"/>
              </a:solidFill>
              <a:round/>
            </a:ln>
            <a:effectLst/>
          </c:spPr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B41-4D20-B41B-7B9A7CC8062D}"/>
            </c:ext>
          </c:extLst>
        </c:ser>
        <c:ser>
          <c:idx val="2"/>
          <c:order val="2"/>
          <c:tx>
            <c:strRef>
              <c:f>Tabelle1!$D$1</c:f>
              <c:strCache>
                <c:ptCount val="1"/>
                <c:pt idx="0">
                  <c:v>Datenreihe 3</c:v>
                </c:pt>
              </c:strCache>
            </c:strRef>
          </c:tx>
          <c:spPr>
            <a:ln w="9525" cap="rnd">
              <a:solidFill>
                <a:schemeClr val="accent3"/>
              </a:solidFill>
              <a:round/>
            </a:ln>
            <a:effectLst/>
          </c:spPr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B41-4D20-B41B-7B9A7CC8062D}"/>
            </c:ext>
          </c:extLst>
        </c:ser>
        <c:bandFmts>
          <c:bandFmt>
            <c:idx val="0"/>
            <c:spPr>
              <a:ln w="9525" cap="rnd">
                <a:solidFill>
                  <a:schemeClr val="accent1"/>
                </a:solidFill>
                <a:round/>
              </a:ln>
              <a:effectLst/>
            </c:spPr>
          </c:bandFmt>
          <c:bandFmt>
            <c:idx val="1"/>
            <c:spPr>
              <a:ln w="9525" cap="rnd">
                <a:solidFill>
                  <a:schemeClr val="accent2"/>
                </a:solidFill>
                <a:round/>
              </a:ln>
              <a:effectLst/>
            </c:spPr>
          </c:bandFmt>
          <c:bandFmt>
            <c:idx val="2"/>
            <c:spPr>
              <a:ln w="9525" cap="rnd">
                <a:solidFill>
                  <a:schemeClr val="accent3"/>
                </a:solidFill>
                <a:round/>
              </a:ln>
              <a:effectLst/>
            </c:spPr>
          </c:bandFmt>
          <c:bandFmt>
            <c:idx val="3"/>
            <c:spPr>
              <a:ln w="9525" cap="rnd">
                <a:solidFill>
                  <a:schemeClr val="accent4"/>
                </a:solidFill>
                <a:round/>
              </a:ln>
              <a:effectLst/>
            </c:spPr>
          </c:bandFmt>
          <c:bandFmt>
            <c:idx val="4"/>
            <c:spPr>
              <a:ln w="9525" cap="rnd">
                <a:solidFill>
                  <a:schemeClr val="accent5"/>
                </a:solidFill>
                <a:round/>
              </a:ln>
              <a:effectLst/>
            </c:spPr>
          </c:bandFmt>
          <c:bandFmt>
            <c:idx val="5"/>
            <c:spPr>
              <a:ln w="9525" cap="rnd">
                <a:solidFill>
                  <a:schemeClr val="accent6"/>
                </a:solidFill>
                <a:round/>
              </a:ln>
              <a:effectLst/>
            </c:spPr>
          </c:bandFmt>
          <c:bandFmt>
            <c:idx val="6"/>
            <c:spPr>
              <a:ln w="9525" cap="rnd">
                <a:solidFill>
                  <a:schemeClr val="accent1">
                    <a:lumMod val="60000"/>
                  </a:schemeClr>
                </a:solidFill>
                <a:round/>
              </a:ln>
              <a:effectLst/>
            </c:spPr>
          </c:bandFmt>
          <c:bandFmt>
            <c:idx val="7"/>
            <c:spPr>
              <a:ln w="9525" cap="rnd">
                <a:solidFill>
                  <a:schemeClr val="accent2">
                    <a:lumMod val="60000"/>
                  </a:schemeClr>
                </a:solidFill>
                <a:round/>
              </a:ln>
              <a:effectLst/>
            </c:spPr>
          </c:bandFmt>
          <c:bandFmt>
            <c:idx val="8"/>
            <c:spPr>
              <a:ln w="9525" cap="rnd">
                <a:solidFill>
                  <a:schemeClr val="accent3">
                    <a:lumMod val="60000"/>
                  </a:schemeClr>
                </a:solidFill>
                <a:round/>
              </a:ln>
              <a:effectLst/>
            </c:spPr>
          </c:bandFmt>
          <c:bandFmt>
            <c:idx val="9"/>
            <c:spPr>
              <a:ln w="9525" cap="rnd">
                <a:solidFill>
                  <a:schemeClr val="accent4">
                    <a:lumMod val="60000"/>
                  </a:schemeClr>
                </a:solidFill>
                <a:round/>
              </a:ln>
              <a:effectLst/>
            </c:spPr>
          </c:bandFmt>
          <c:bandFmt>
            <c:idx val="10"/>
            <c:spPr>
              <a:ln w="9525" cap="rnd">
                <a:solidFill>
                  <a:schemeClr val="accent5">
                    <a:lumMod val="60000"/>
                  </a:schemeClr>
                </a:solidFill>
                <a:round/>
              </a:ln>
              <a:effectLst/>
            </c:spPr>
          </c:bandFmt>
          <c:bandFmt>
            <c:idx val="11"/>
            <c:spPr>
              <a:ln w="9525" cap="rnd">
                <a:solidFill>
                  <a:schemeClr val="accent6">
                    <a:lumMod val="60000"/>
                  </a:schemeClr>
                </a:solidFill>
                <a:round/>
              </a:ln>
              <a:effectLst/>
            </c:spPr>
          </c:bandFmt>
          <c:bandFmt>
            <c:idx val="12"/>
            <c:spPr>
              <a:ln w="9525" cap="rnd">
                <a:solidFill>
                  <a:schemeClr val="accent1">
                    <a:lumMod val="80000"/>
                    <a:lumOff val="20000"/>
                  </a:schemeClr>
                </a:solidFill>
                <a:round/>
              </a:ln>
              <a:effectLst/>
            </c:spPr>
          </c:bandFmt>
          <c:bandFmt>
            <c:idx val="13"/>
            <c:spPr>
              <a:ln w="9525" cap="rnd">
                <a:solidFill>
                  <a:schemeClr val="accent2">
                    <a:lumMod val="80000"/>
                    <a:lumOff val="20000"/>
                  </a:schemeClr>
                </a:solidFill>
                <a:round/>
              </a:ln>
              <a:effectLst/>
            </c:spPr>
          </c:bandFmt>
          <c:bandFmt>
            <c:idx val="14"/>
            <c:spPr>
              <a:ln w="9525" cap="rnd">
                <a:solidFill>
                  <a:schemeClr val="accent3">
                    <a:lumMod val="80000"/>
                    <a:lumOff val="20000"/>
                  </a:schemeClr>
                </a:solidFill>
                <a:round/>
              </a:ln>
              <a:effectLst/>
            </c:spPr>
          </c:bandFmt>
        </c:bandFmts>
        <c:axId val="796788208"/>
        <c:axId val="1465962415"/>
        <c:axId val="1307037600"/>
      </c:surface3DChart>
      <c:catAx>
        <c:axId val="79678820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465962415"/>
        <c:crosses val="autoZero"/>
        <c:auto val="1"/>
        <c:lblAlgn val="ctr"/>
        <c:lblOffset val="100"/>
        <c:noMultiLvlLbl val="0"/>
      </c:catAx>
      <c:valAx>
        <c:axId val="146596241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796788208"/>
        <c:crosses val="autoZero"/>
        <c:crossBetween val="midCat"/>
      </c:valAx>
      <c:serAx>
        <c:axId val="1307037600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465962415"/>
        <c:crosses val="autoZero"/>
      </c:ser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zero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view3D>
      <c:rotX val="15"/>
      <c:rotY val="20"/>
      <c:depthPercent val="100"/>
      <c:rAngAx val="1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bar3DChart>
        <c:barDir val="col"/>
        <c:grouping val="standar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Datenreihe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  <a:sp3d/>
          </c:spPr>
          <c:invertIfNegative val="0"/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134-42A0-9D4D-FBED65AC09B9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Datenreihe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  <a:sp3d/>
          </c:spPr>
          <c:invertIfNegative val="0"/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134-42A0-9D4D-FBED65AC09B9}"/>
            </c:ext>
          </c:extLst>
        </c:ser>
        <c:ser>
          <c:idx val="2"/>
          <c:order val="2"/>
          <c:tx>
            <c:strRef>
              <c:f>Tabelle1!$D$1</c:f>
              <c:strCache>
                <c:ptCount val="1"/>
                <c:pt idx="0">
                  <c:v>Datenreihe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  <a:sp3d/>
          </c:spPr>
          <c:invertIfNegative val="0"/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134-42A0-9D4D-FBED65AC09B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shape val="cylinder"/>
        <c:axId val="796786816"/>
        <c:axId val="1465980175"/>
        <c:axId val="1307046000"/>
      </c:bar3DChart>
      <c:catAx>
        <c:axId val="79678681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465980175"/>
        <c:crosses val="autoZero"/>
        <c:auto val="1"/>
        <c:lblAlgn val="ctr"/>
        <c:lblOffset val="100"/>
        <c:noMultiLvlLbl val="0"/>
      </c:catAx>
      <c:valAx>
        <c:axId val="146598017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796786816"/>
        <c:crosses val="autoZero"/>
        <c:crossBetween val="between"/>
      </c:valAx>
      <c:serAx>
        <c:axId val="1307046000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465980175"/>
        <c:crosses val="autoZero"/>
      </c:ser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view3D>
      <c:rotX val="15"/>
      <c:rotY val="20"/>
      <c:depthPercent val="100"/>
      <c:rAngAx val="1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bar3DChart>
        <c:barDir val="col"/>
        <c:grouping val="standar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Datenreihe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  <a:sp3d/>
          </c:spPr>
          <c:invertIfNegative val="0"/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ED6-43EF-A87B-F5A3D68125FB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Datenreihe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  <a:sp3d/>
          </c:spPr>
          <c:invertIfNegative val="0"/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ED6-43EF-A87B-F5A3D68125FB}"/>
            </c:ext>
          </c:extLst>
        </c:ser>
        <c:ser>
          <c:idx val="2"/>
          <c:order val="2"/>
          <c:tx>
            <c:strRef>
              <c:f>Tabelle1!$D$1</c:f>
              <c:strCache>
                <c:ptCount val="1"/>
                <c:pt idx="0">
                  <c:v>Datenreihe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  <a:sp3d/>
          </c:spPr>
          <c:invertIfNegative val="0"/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ED6-43EF-A87B-F5A3D68125F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shape val="cone"/>
        <c:axId val="796777536"/>
        <c:axId val="1465976815"/>
        <c:axId val="1307040400"/>
      </c:bar3DChart>
      <c:catAx>
        <c:axId val="79677753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465976815"/>
        <c:crosses val="autoZero"/>
        <c:auto val="1"/>
        <c:lblAlgn val="ctr"/>
        <c:lblOffset val="100"/>
        <c:noMultiLvlLbl val="0"/>
      </c:catAx>
      <c:valAx>
        <c:axId val="146597681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796777536"/>
        <c:crosses val="autoZero"/>
        <c:crossBetween val="between"/>
      </c:valAx>
      <c:serAx>
        <c:axId val="1307040400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465976815"/>
        <c:crosses val="autoZero"/>
      </c:ser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view3D>
      <c:rotX val="15"/>
      <c:rotY val="20"/>
      <c:depthPercent val="100"/>
      <c:rAngAx val="1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bar3DChart>
        <c:barDir val="col"/>
        <c:grouping val="standar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Datenreihe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  <a:sp3d/>
          </c:spPr>
          <c:invertIfNegative val="0"/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77-42BF-8E5A-2299A4B40DFF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Datenreihe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  <a:sp3d/>
          </c:spPr>
          <c:invertIfNegative val="0"/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377-42BF-8E5A-2299A4B40DFF}"/>
            </c:ext>
          </c:extLst>
        </c:ser>
        <c:ser>
          <c:idx val="2"/>
          <c:order val="2"/>
          <c:tx>
            <c:strRef>
              <c:f>Tabelle1!$D$1</c:f>
              <c:strCache>
                <c:ptCount val="1"/>
                <c:pt idx="0">
                  <c:v>Datenreihe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  <a:sp3d/>
          </c:spPr>
          <c:invertIfNegative val="0"/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377-42BF-8E5A-2299A4B40DF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shape val="pyramid"/>
        <c:axId val="796793776"/>
        <c:axId val="1465978255"/>
        <c:axId val="1014991888"/>
      </c:bar3DChart>
      <c:catAx>
        <c:axId val="7967937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465978255"/>
        <c:crosses val="autoZero"/>
        <c:auto val="1"/>
        <c:lblAlgn val="ctr"/>
        <c:lblOffset val="100"/>
        <c:noMultiLvlLbl val="0"/>
      </c:catAx>
      <c:valAx>
        <c:axId val="146597825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796793776"/>
        <c:crosses val="autoZero"/>
        <c:crossBetween val="between"/>
      </c:valAx>
      <c:serAx>
        <c:axId val="1014991888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465978255"/>
        <c:crosses val="autoZero"/>
      </c:ser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view3D>
      <c:rotX val="25"/>
      <c:rotY val="40"/>
      <c:depthPercent val="100"/>
      <c:rAngAx val="0"/>
      <c:perspective val="6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bar3DChart>
        <c:barDir val="col"/>
        <c:grouping val="clustere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Datenreihe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  <a:sp3d/>
          </c:spPr>
          <c:invertIfNegative val="0"/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1FC-44C9-9EC9-56229E90868A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Datenreihe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  <a:sp3d/>
          </c:spPr>
          <c:invertIfNegative val="0"/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1FC-44C9-9EC9-56229E90868A}"/>
            </c:ext>
          </c:extLst>
        </c:ser>
        <c:ser>
          <c:idx val="2"/>
          <c:order val="2"/>
          <c:tx>
            <c:strRef>
              <c:f>Tabelle1!$D$1</c:f>
              <c:strCache>
                <c:ptCount val="1"/>
                <c:pt idx="0">
                  <c:v>Datenreihe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  <a:sp3d/>
          </c:spPr>
          <c:invertIfNegative val="0"/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1FC-44C9-9EC9-56229E90868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shape val="box"/>
        <c:axId val="1467941903"/>
        <c:axId val="1465984495"/>
        <c:axId val="0"/>
      </c:bar3DChart>
      <c:catAx>
        <c:axId val="14679419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465984495"/>
        <c:crosses val="autoZero"/>
        <c:auto val="1"/>
        <c:lblAlgn val="ctr"/>
        <c:lblOffset val="100"/>
        <c:noMultiLvlLbl val="0"/>
      </c:catAx>
      <c:valAx>
        <c:axId val="146598449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4679419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view3D>
      <c:rotX val="20"/>
      <c:rotY val="30"/>
      <c:depthPercent val="100"/>
      <c:rAngAx val="1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bar3DChart>
        <c:barDir val="col"/>
        <c:grouping val="standar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Datenreihe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  <a:sp3d/>
          </c:spPr>
          <c:invertIfNegative val="0"/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A78-4352-8092-B394C6B8523E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Datenreihe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  <a:sp3d/>
          </c:spPr>
          <c:invertIfNegative val="0"/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A78-4352-8092-B394C6B8523E}"/>
            </c:ext>
          </c:extLst>
        </c:ser>
        <c:ser>
          <c:idx val="2"/>
          <c:order val="2"/>
          <c:tx>
            <c:strRef>
              <c:f>Tabelle1!$D$1</c:f>
              <c:strCache>
                <c:ptCount val="1"/>
                <c:pt idx="0">
                  <c:v>Datenreihe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  <a:sp3d/>
          </c:spPr>
          <c:invertIfNegative val="0"/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A78-4352-8092-B394C6B8523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shape val="box"/>
        <c:axId val="1467946543"/>
        <c:axId val="1466024815"/>
        <c:axId val="1473190927"/>
      </c:bar3DChart>
      <c:catAx>
        <c:axId val="146794654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466024815"/>
        <c:crosses val="autoZero"/>
        <c:auto val="1"/>
        <c:lblAlgn val="ctr"/>
        <c:lblOffset val="100"/>
        <c:noMultiLvlLbl val="0"/>
      </c:catAx>
      <c:valAx>
        <c:axId val="146602481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467946543"/>
        <c:crosses val="autoZero"/>
        <c:crossBetween val="between"/>
      </c:valAx>
      <c:serAx>
        <c:axId val="1473190927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466024815"/>
        <c:crosses val="autoZero"/>
      </c:ser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view3D>
      <c:rotX val="60"/>
      <c:rotY val="9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pie3DChart>
        <c:varyColors val="1"/>
        <c:ser>
          <c:idx val="0"/>
          <c:order val="0"/>
          <c:tx>
            <c:strRef>
              <c:f>Tabelle1!$B$1</c:f>
              <c:strCache>
                <c:ptCount val="1"/>
                <c:pt idx="0">
                  <c:v>Verkauf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</c:dPt>
          <c:cat>
            <c:strRef>
              <c:f>Tabelle1!$A$2:$A$5</c:f>
              <c:strCache>
                <c:ptCount val="4"/>
                <c:pt idx="0">
                  <c:v>1. Quartal</c:v>
                </c:pt>
                <c:pt idx="1">
                  <c:v>2. Quartal</c:v>
                </c:pt>
                <c:pt idx="2">
                  <c:v>3. Quartal</c:v>
                </c:pt>
                <c:pt idx="3">
                  <c:v>4. Quartal</c:v>
                </c:pt>
              </c:strCache>
            </c:strRef>
          </c:cat>
          <c:val>
            <c:numRef>
              <c:f>Tabelle1!$B$2:$B$5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2DA-4659-82B4-3FE583372D5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8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8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8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8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8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8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6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6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7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7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30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8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8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8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8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8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6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C28FA0-35AE-5890-402E-B7C18DE9E6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7A06773A-EA48-78CD-A003-7187B7D335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BC1D957-F069-50B6-7130-D391DCD43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859EB-D23C-4616-B420-B67BCB3819AC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B1EAF96-FCE7-344A-3DB3-B53F4216C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B396D6E-F12A-AB2B-44A2-1277B5432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2925FD-2DD3-43DD-8B59-4A314B41F5B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036327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292512-7B48-CAEA-2FD5-9A1A99DA9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CA5F656-1D9F-8E49-B9B9-F055A788FB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7C5983F-00FC-F022-4BC3-38655E53AF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859EB-D23C-4616-B420-B67BCB3819AC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777FB92-332B-ED18-9481-F21A571CE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1F8C255-B0C2-8437-DD67-78EFD52495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2925FD-2DD3-43DD-8B59-4A314B41F5B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756140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F3636A-3C9C-7CC2-C707-E4BC8366AF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478C1E8-4748-98FC-537C-E3D6B28AA4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8077214-4D65-71F5-2E86-619B181950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859EB-D23C-4616-B420-B67BCB3819AC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8C3610A-4423-5EF7-D9D9-0D07AF8A3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4B4D66A-E939-6980-0D13-34FCF10B04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2925FD-2DD3-43DD-8B59-4A314B41F5B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969774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EF5974-8FA2-E430-9E02-BCB37232F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B77DA1C-4F67-10C6-3854-CB5F9518EC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AFD60E0-EEA1-6CCC-49C0-F9A42ACFE0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198E8D5-F582-3B59-CD93-4E1CB9167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859EB-D23C-4616-B420-B67BCB3819AC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80920F2-5981-6837-F845-5A583B77CF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5F94DFD-5595-1EDA-0529-651EACB5C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2925FD-2DD3-43DD-8B59-4A314B41F5B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488678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2538D1-A9C2-504C-0FA1-B871BEBDBB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A08DAF0-A51B-F10F-F2B7-02789FAFCF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847C886-8663-6007-C8A1-F1E6B4E7FD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9EBEDC3-E54F-567C-7FF1-A1796E565A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79B9F571-16E8-226D-8103-F6A2E2A23D2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93296EA0-C28A-A9C7-6741-54B12F961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859EB-D23C-4616-B420-B67BCB3819AC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0C78CC54-19E7-D7B5-D789-D9F4E6B978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F029535B-EA1B-DA5A-5436-22948FB0B1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2925FD-2DD3-43DD-8B59-4A314B41F5B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817006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36CE27-38CB-06DC-54E7-D804126CB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48B9634-1D66-191B-10EA-40CC92841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859EB-D23C-4616-B420-B67BCB3819AC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05FB890-7864-0057-05A9-6196EA775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19D1DF6-B5B6-693F-0F65-1CEAA93F7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2925FD-2DD3-43DD-8B59-4A314B41F5B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641986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F67C852F-BEFA-24F4-4EDA-4E26819FC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859EB-D23C-4616-B420-B67BCB3819AC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E3FC517E-D7AC-7400-21E3-F7522B0EE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CDA67B5-64CD-33BB-E7A1-5BE3C593E5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2925FD-2DD3-43DD-8B59-4A314B41F5B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14086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E1930B-5E80-5407-1DCF-85A5BDCD1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AF2EFB7-3E90-1514-DCD6-770B2DC961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52D9C3A-BB4E-DE37-5A69-FF09697E4C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4CA6A38-175B-6B7C-7E99-BE7BF2C91B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859EB-D23C-4616-B420-B67BCB3819AC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BF35862-19F5-00B6-F629-4AF9A6DAC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ABDF6CC-7D24-7B75-ABA3-B5CB9D6C0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2925FD-2DD3-43DD-8B59-4A314B41F5B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68394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866BDEB-3F6E-A58C-8847-62BB5DCD7F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FF398D54-27AD-40F3-B5F4-868CEE968188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1946ED2-FCB4-FE13-E9F9-EC576F1418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5C3B0E0-EE83-E54E-BD0E-56998A6246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859EB-D23C-4616-B420-B67BCB3819AC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75D048F-8C33-5F72-2A30-251C8D9A4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3BEBB6A-C2A5-9CA1-C7A0-2DDBE2D1A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2925FD-2DD3-43DD-8B59-4A314B41F5B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061869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F64963-FD5D-AA1D-BE52-0F0778DE61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FE0B98B-AC78-6A19-9FFB-12A1356AED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5A43BD5-6DB2-B7DA-B439-5B2596B17F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859EB-D23C-4616-B420-B67BCB3819AC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94EA6E3-7391-1CC8-B1D1-45CE2BE2CB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1AC7A70-9AD5-2CBA-3A00-D0E574EB2C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2925FD-2DD3-43DD-8B59-4A314B41F5B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950486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0F64CF1D-13B2-261E-B545-3E753EA3E5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9C658748-3CB5-BC20-6FA3-16B77D39D0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2F9042E-D384-BD79-3ED7-FF124D9E4A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859EB-D23C-4616-B420-B67BCB3819AC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DEE6FEA-B197-C3EA-332E-D28CC8E55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C6F1351-0B72-C095-0865-C27ABAB63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2925FD-2DD3-43DD-8B59-4A314B41F5B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167022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D53A055C-2C43-2E66-9D37-A813C3A394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7CF5306-55C2-04BA-6C12-091E420A6E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0E59024-A6C1-F170-3027-15F0FBAD2BA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61859EB-D23C-4616-B420-B67BCB3819AC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8E2D79A-E053-A04C-B64C-D7C7C96861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81FA1B0-31DB-5D89-9F79-10D714E0AF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F2925FD-2DD3-43DD-8B59-4A314B41F5B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71515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5.xml"/><Relationship Id="rId2" Type="http://schemas.openxmlformats.org/officeDocument/2006/relationships/chart" Target="../charts/chart14.xml"/><Relationship Id="rId1" Type="http://schemas.openxmlformats.org/officeDocument/2006/relationships/slideLayout" Target="../slideLayouts/slideLayout6.xml"/><Relationship Id="rId4" Type="http://schemas.openxmlformats.org/officeDocument/2006/relationships/chart" Target="../charts/chart1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7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8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9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64042F-8E45-4463-983A-F5F60CB1A7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3D clustered column</a:t>
            </a:r>
          </a:p>
        </p:txBody>
      </p:sp>
      <p:graphicFrame>
        <p:nvGraphicFramePr>
          <p:cNvPr id="3" name="Diagramm 2">
            <a:extLst>
              <a:ext uri="{FF2B5EF4-FFF2-40B4-BE49-F238E27FC236}">
                <a16:creationId xmlns:a16="http://schemas.microsoft.com/office/drawing/2014/main" id="{C39CBEB3-E1B8-7A5B-36FC-D0C4ACF9753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46094727"/>
              </p:ext>
            </p:extLst>
          </p:nvPr>
        </p:nvGraphicFramePr>
        <p:xfrm>
          <a:off x="1016000" y="1524000"/>
          <a:ext cx="10160000" cy="50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4229558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349F9C-E758-9283-5407-FBD5D26D08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3D stacked column</a:t>
            </a:r>
          </a:p>
        </p:txBody>
      </p:sp>
      <p:graphicFrame>
        <p:nvGraphicFramePr>
          <p:cNvPr id="3" name="Diagramm 2">
            <a:extLst>
              <a:ext uri="{FF2B5EF4-FFF2-40B4-BE49-F238E27FC236}">
                <a16:creationId xmlns:a16="http://schemas.microsoft.com/office/drawing/2014/main" id="{7425FA0D-92E1-7711-1B76-BFE7FAD7ED4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13055309"/>
              </p:ext>
            </p:extLst>
          </p:nvPr>
        </p:nvGraphicFramePr>
        <p:xfrm>
          <a:off x="1016000" y="1524000"/>
          <a:ext cx="10160000" cy="50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6429792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FA6994-1F80-AFD1-6F41-87B901CCB1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3D 100 % stacked column</a:t>
            </a:r>
          </a:p>
        </p:txBody>
      </p:sp>
      <p:graphicFrame>
        <p:nvGraphicFramePr>
          <p:cNvPr id="3" name="Diagramm 2">
            <a:extLst>
              <a:ext uri="{FF2B5EF4-FFF2-40B4-BE49-F238E27FC236}">
                <a16:creationId xmlns:a16="http://schemas.microsoft.com/office/drawing/2014/main" id="{35347334-3673-8A15-B144-6862842EBD5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85049093"/>
              </p:ext>
            </p:extLst>
          </p:nvPr>
        </p:nvGraphicFramePr>
        <p:xfrm>
          <a:off x="1016000" y="1524000"/>
          <a:ext cx="10160000" cy="50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0774552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5A3CA7-D101-6B2E-AF0C-F11FB82E9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3D column</a:t>
            </a:r>
          </a:p>
        </p:txBody>
      </p:sp>
      <p:graphicFrame>
        <p:nvGraphicFramePr>
          <p:cNvPr id="3" name="Diagramm 2">
            <a:extLst>
              <a:ext uri="{FF2B5EF4-FFF2-40B4-BE49-F238E27FC236}">
                <a16:creationId xmlns:a16="http://schemas.microsoft.com/office/drawing/2014/main" id="{2F5CE736-34E0-8AD8-37F1-20A4CBAED56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13549899"/>
              </p:ext>
            </p:extLst>
          </p:nvPr>
        </p:nvGraphicFramePr>
        <p:xfrm>
          <a:off x="1016000" y="1524000"/>
          <a:ext cx="10160000" cy="50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6268449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0F5381-69F6-2449-7850-815770C4C8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3D clustered bar</a:t>
            </a:r>
          </a:p>
        </p:txBody>
      </p:sp>
      <p:graphicFrame>
        <p:nvGraphicFramePr>
          <p:cNvPr id="3" name="Diagramm 2">
            <a:extLst>
              <a:ext uri="{FF2B5EF4-FFF2-40B4-BE49-F238E27FC236}">
                <a16:creationId xmlns:a16="http://schemas.microsoft.com/office/drawing/2014/main" id="{BAA897E1-A150-EF57-C639-B23E8A9B00B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38138582"/>
              </p:ext>
            </p:extLst>
          </p:nvPr>
        </p:nvGraphicFramePr>
        <p:xfrm>
          <a:off x="1016000" y="1524000"/>
          <a:ext cx="10160000" cy="50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7747043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B0231D-EC22-A643-0E87-FF0A2B42EB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3D stacked bar</a:t>
            </a:r>
          </a:p>
        </p:txBody>
      </p:sp>
      <p:graphicFrame>
        <p:nvGraphicFramePr>
          <p:cNvPr id="3" name="Diagramm 2">
            <a:extLst>
              <a:ext uri="{FF2B5EF4-FFF2-40B4-BE49-F238E27FC236}">
                <a16:creationId xmlns:a16="http://schemas.microsoft.com/office/drawing/2014/main" id="{7375F800-388D-95F9-CF0F-5C58F1B1CB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32885793"/>
              </p:ext>
            </p:extLst>
          </p:nvPr>
        </p:nvGraphicFramePr>
        <p:xfrm>
          <a:off x="1016000" y="1524000"/>
          <a:ext cx="10160000" cy="50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6309310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503B2C-5551-DD52-1C14-628E6AD101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3D pie</a:t>
            </a:r>
          </a:p>
        </p:txBody>
      </p:sp>
      <p:graphicFrame>
        <p:nvGraphicFramePr>
          <p:cNvPr id="3" name="Diagramm 2">
            <a:extLst>
              <a:ext uri="{FF2B5EF4-FFF2-40B4-BE49-F238E27FC236}">
                <a16:creationId xmlns:a16="http://schemas.microsoft.com/office/drawing/2014/main" id="{EFD305C2-EE8A-8385-6E05-3000A13D57A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49798119"/>
              </p:ext>
            </p:extLst>
          </p:nvPr>
        </p:nvGraphicFramePr>
        <p:xfrm>
          <a:off x="1016000" y="1524000"/>
          <a:ext cx="10160000" cy="50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8091522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B2D51A-53E3-7462-F889-1FA0D1452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3D exploded pie</a:t>
            </a:r>
          </a:p>
        </p:txBody>
      </p:sp>
      <p:graphicFrame>
        <p:nvGraphicFramePr>
          <p:cNvPr id="3" name="Diagramm 2">
            <a:extLst>
              <a:ext uri="{FF2B5EF4-FFF2-40B4-BE49-F238E27FC236}">
                <a16:creationId xmlns:a16="http://schemas.microsoft.com/office/drawing/2014/main" id="{7323A509-63B8-3296-359B-782F402A517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14825952"/>
              </p:ext>
            </p:extLst>
          </p:nvPr>
        </p:nvGraphicFramePr>
        <p:xfrm>
          <a:off x="1016000" y="1524000"/>
          <a:ext cx="10160000" cy="50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9297762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9A144A-0F3D-C99D-6FCA-CFD44D5F17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3D area</a:t>
            </a:r>
          </a:p>
        </p:txBody>
      </p:sp>
      <p:graphicFrame>
        <p:nvGraphicFramePr>
          <p:cNvPr id="3" name="Diagramm 2">
            <a:extLst>
              <a:ext uri="{FF2B5EF4-FFF2-40B4-BE49-F238E27FC236}">
                <a16:creationId xmlns:a16="http://schemas.microsoft.com/office/drawing/2014/main" id="{26B389B4-56A1-03AC-E38A-3468C1E580C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41108456"/>
              </p:ext>
            </p:extLst>
          </p:nvPr>
        </p:nvGraphicFramePr>
        <p:xfrm>
          <a:off x="1016000" y="1524000"/>
          <a:ext cx="10160000" cy="50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3592960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40CCEAD-D13F-B513-E05A-8DDFB1BCB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3D stacked area</a:t>
            </a:r>
          </a:p>
        </p:txBody>
      </p:sp>
      <p:graphicFrame>
        <p:nvGraphicFramePr>
          <p:cNvPr id="3" name="Diagramm 2">
            <a:extLst>
              <a:ext uri="{FF2B5EF4-FFF2-40B4-BE49-F238E27FC236}">
                <a16:creationId xmlns:a16="http://schemas.microsoft.com/office/drawing/2014/main" id="{CA777DBF-D5BA-F711-C44C-B2DA1F9B4A2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69451071"/>
              </p:ext>
            </p:extLst>
          </p:nvPr>
        </p:nvGraphicFramePr>
        <p:xfrm>
          <a:off x="1016000" y="1524000"/>
          <a:ext cx="10160000" cy="50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7905361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C70487-1FB5-E2F4-3686-B5277E2AA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3D line</a:t>
            </a:r>
          </a:p>
        </p:txBody>
      </p:sp>
      <p:graphicFrame>
        <p:nvGraphicFramePr>
          <p:cNvPr id="3" name="Diagramm 2">
            <a:extLst>
              <a:ext uri="{FF2B5EF4-FFF2-40B4-BE49-F238E27FC236}">
                <a16:creationId xmlns:a16="http://schemas.microsoft.com/office/drawing/2014/main" id="{63EC1C92-4186-F429-78FA-136FD143696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56611954"/>
              </p:ext>
            </p:extLst>
          </p:nvPr>
        </p:nvGraphicFramePr>
        <p:xfrm>
          <a:off x="1016000" y="1524000"/>
          <a:ext cx="10160000" cy="50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8245548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884CA8-8811-CAD1-C48B-85A82B47E3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3D surface</a:t>
            </a:r>
          </a:p>
        </p:txBody>
      </p:sp>
      <p:graphicFrame>
        <p:nvGraphicFramePr>
          <p:cNvPr id="3" name="Diagramm 2">
            <a:extLst>
              <a:ext uri="{FF2B5EF4-FFF2-40B4-BE49-F238E27FC236}">
                <a16:creationId xmlns:a16="http://schemas.microsoft.com/office/drawing/2014/main" id="{17859F25-A49A-8F68-C192-F0FA117CA38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20643548"/>
              </p:ext>
            </p:extLst>
          </p:nvPr>
        </p:nvGraphicFramePr>
        <p:xfrm>
          <a:off x="1016000" y="1524000"/>
          <a:ext cx="10160000" cy="50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7404323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B47665C-55B0-5A13-9F98-66B1D0CDFA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Wireframe surface</a:t>
            </a:r>
          </a:p>
        </p:txBody>
      </p:sp>
      <p:graphicFrame>
        <p:nvGraphicFramePr>
          <p:cNvPr id="3" name="Diagramm 2">
            <a:extLst>
              <a:ext uri="{FF2B5EF4-FFF2-40B4-BE49-F238E27FC236}">
                <a16:creationId xmlns:a16="http://schemas.microsoft.com/office/drawing/2014/main" id="{2A1F8E97-5D36-AFC6-7D2E-04C8932D077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92728440"/>
              </p:ext>
            </p:extLst>
          </p:nvPr>
        </p:nvGraphicFramePr>
        <p:xfrm>
          <a:off x="1016000" y="1524000"/>
          <a:ext cx="10160000" cy="50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5905262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09FD29-D234-08A6-8A17-FE495AF4FD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Cylinder, cone, pyramid</a:t>
            </a:r>
          </a:p>
        </p:txBody>
      </p:sp>
      <p:graphicFrame>
        <p:nvGraphicFramePr>
          <p:cNvPr id="3" name="Diagramm 2">
            <a:extLst>
              <a:ext uri="{FF2B5EF4-FFF2-40B4-BE49-F238E27FC236}">
                <a16:creationId xmlns:a16="http://schemas.microsoft.com/office/drawing/2014/main" id="{AEDA1E38-4DA8-D408-1FB5-8C5235AE232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72945424"/>
              </p:ext>
            </p:extLst>
          </p:nvPr>
        </p:nvGraphicFramePr>
        <p:xfrm>
          <a:off x="254000" y="1524000"/>
          <a:ext cx="3810000" cy="482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Diagramm 3">
            <a:extLst>
              <a:ext uri="{FF2B5EF4-FFF2-40B4-BE49-F238E27FC236}">
                <a16:creationId xmlns:a16="http://schemas.microsoft.com/office/drawing/2014/main" id="{57527DA6-E258-EBAD-AD2A-ED7B79DF357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47299660"/>
              </p:ext>
            </p:extLst>
          </p:nvPr>
        </p:nvGraphicFramePr>
        <p:xfrm>
          <a:off x="4191000" y="1524000"/>
          <a:ext cx="3810000" cy="482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" name="Diagramm 4">
            <a:extLst>
              <a:ext uri="{FF2B5EF4-FFF2-40B4-BE49-F238E27FC236}">
                <a16:creationId xmlns:a16="http://schemas.microsoft.com/office/drawing/2014/main" id="{16F6B3F0-A98B-BD8F-1B56-39BC1DEB97A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6760325"/>
              </p:ext>
            </p:extLst>
          </p:nvPr>
        </p:nvGraphicFramePr>
        <p:xfrm>
          <a:off x="8128000" y="1524000"/>
          <a:ext cx="3810000" cy="482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19302328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F38EC1-DC88-C126-17E0-7E7923749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Rotated, perspective</a:t>
            </a:r>
          </a:p>
        </p:txBody>
      </p:sp>
      <p:graphicFrame>
        <p:nvGraphicFramePr>
          <p:cNvPr id="3" name="Diagramm 2">
            <a:extLst>
              <a:ext uri="{FF2B5EF4-FFF2-40B4-BE49-F238E27FC236}">
                <a16:creationId xmlns:a16="http://schemas.microsoft.com/office/drawing/2014/main" id="{558167FB-7017-BD96-D73C-FA44DB83023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26034490"/>
              </p:ext>
            </p:extLst>
          </p:nvPr>
        </p:nvGraphicFramePr>
        <p:xfrm>
          <a:off x="1016000" y="1524000"/>
          <a:ext cx="10160000" cy="50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6986661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10C436-692B-E07E-BD58-95AC0ADF8C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Rotated, right-angle axes</a:t>
            </a:r>
          </a:p>
        </p:txBody>
      </p:sp>
      <p:graphicFrame>
        <p:nvGraphicFramePr>
          <p:cNvPr id="3" name="Diagramm 2">
            <a:extLst>
              <a:ext uri="{FF2B5EF4-FFF2-40B4-BE49-F238E27FC236}">
                <a16:creationId xmlns:a16="http://schemas.microsoft.com/office/drawing/2014/main" id="{7363CBB5-C4A2-4EC7-CB23-29F6B5ECC76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72467864"/>
              </p:ext>
            </p:extLst>
          </p:nvPr>
        </p:nvGraphicFramePr>
        <p:xfrm>
          <a:off x="1016000" y="1524000"/>
          <a:ext cx="10160000" cy="50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8455722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75C205-D57F-0241-B4D5-CECBB5E1C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Pie, elevation 60</a:t>
            </a:r>
          </a:p>
        </p:txBody>
      </p:sp>
      <p:graphicFrame>
        <p:nvGraphicFramePr>
          <p:cNvPr id="3" name="Diagramm 2">
            <a:extLst>
              <a:ext uri="{FF2B5EF4-FFF2-40B4-BE49-F238E27FC236}">
                <a16:creationId xmlns:a16="http://schemas.microsoft.com/office/drawing/2014/main" id="{E52F6B13-E122-2616-27C0-81C64547128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29163901"/>
              </p:ext>
            </p:extLst>
          </p:nvPr>
        </p:nvGraphicFramePr>
        <p:xfrm>
          <a:off x="1016000" y="1524000"/>
          <a:ext cx="10160000" cy="50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9313419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</Words>
  <Application>Microsoft Office PowerPoint</Application>
  <PresentationFormat>Benutzerdefiniert</PresentationFormat>
  <Paragraphs>17</Paragraphs>
  <Slides>17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17</vt:i4>
      </vt:variant>
    </vt:vector>
  </HeadingPairs>
  <TitlesOfParts>
    <vt:vector size="21" baseType="lpstr">
      <vt:lpstr>Aptos</vt:lpstr>
      <vt:lpstr>Aptos Display</vt:lpstr>
      <vt:lpstr>Arial</vt:lpstr>
      <vt:lpstr>Office</vt:lpstr>
      <vt:lpstr>3D clustered column</vt:lpstr>
      <vt:lpstr>3D stacked column</vt:lpstr>
      <vt:lpstr>3D 100 % stacked column</vt:lpstr>
      <vt:lpstr>3D column</vt:lpstr>
      <vt:lpstr>3D clustered bar</vt:lpstr>
      <vt:lpstr>3D stacked bar</vt:lpstr>
      <vt:lpstr>3D pie</vt:lpstr>
      <vt:lpstr>3D exploded pie</vt:lpstr>
      <vt:lpstr>3D area</vt:lpstr>
      <vt:lpstr>3D stacked area</vt:lpstr>
      <vt:lpstr>3D line</vt:lpstr>
      <vt:lpstr>3D surface</vt:lpstr>
      <vt:lpstr>Wireframe surface</vt:lpstr>
      <vt:lpstr>Cylinder, cone, pyramid</vt:lpstr>
      <vt:lpstr>Rotated, perspective</vt:lpstr>
      <vt:lpstr>Rotated, right-angle axes</vt:lpstr>
      <vt:lpstr>Pie, elevation 60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Fidelity generator</dc:creator>
  <cp:lastModifiedBy>Fidelity generator</cp:lastModifiedBy>
  <cp:revision>1</cp:revision>
  <dcterms:created xsi:type="dcterms:W3CDTF">2026-10-08T18:36:26Z</dcterms:created>
  <dcterms:modified xsi:type="dcterms:W3CDTF">2026-10-08T18:36:26Z</dcterms:modified>
</cp:coreProperties>
</file>